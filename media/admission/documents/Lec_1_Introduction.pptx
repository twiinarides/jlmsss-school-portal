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notesMasterIdLst>
    <p:notesMasterId r:id="rId26"/>
  </p:notesMasterIdLst>
  <p:handoutMasterIdLst>
    <p:handoutMasterId r:id="rId27"/>
  </p:handoutMasterIdLst>
  <p:sldIdLst>
    <p:sldId id="296" r:id="rId2"/>
    <p:sldId id="297" r:id="rId3"/>
    <p:sldId id="279" r:id="rId4"/>
    <p:sldId id="272" r:id="rId5"/>
    <p:sldId id="274" r:id="rId6"/>
    <p:sldId id="275" r:id="rId7"/>
    <p:sldId id="276" r:id="rId8"/>
    <p:sldId id="280" r:id="rId9"/>
    <p:sldId id="281" r:id="rId10"/>
    <p:sldId id="282" r:id="rId11"/>
    <p:sldId id="283" r:id="rId12"/>
    <p:sldId id="284" r:id="rId13"/>
    <p:sldId id="285" r:id="rId14"/>
    <p:sldId id="286" r:id="rId15"/>
    <p:sldId id="287" r:id="rId16"/>
    <p:sldId id="288" r:id="rId17"/>
    <p:sldId id="295" r:id="rId18"/>
    <p:sldId id="289" r:id="rId19"/>
    <p:sldId id="290" r:id="rId20"/>
    <p:sldId id="291" r:id="rId21"/>
    <p:sldId id="292" r:id="rId22"/>
    <p:sldId id="293" r:id="rId23"/>
    <p:sldId id="294" r:id="rId24"/>
    <p:sldId id="300" r:id="rId25"/>
  </p:sldIdLst>
  <p:sldSz cx="12192000" cy="6858000"/>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216" y="64"/>
      </p:cViewPr>
      <p:guideLst/>
    </p:cSldViewPr>
  </p:slideViewPr>
  <p:notesTextViewPr>
    <p:cViewPr>
      <p:scale>
        <a:sx n="1" d="1"/>
        <a:sy n="1" d="1"/>
      </p:scale>
      <p:origin x="0" y="0"/>
    </p:cViewPr>
  </p:notesTextViewPr>
  <p:notesViewPr>
    <p:cSldViewPr snapToGrid="0">
      <p:cViewPr varScale="1">
        <p:scale>
          <a:sx n="69" d="100"/>
          <a:sy n="69" d="100"/>
        </p:scale>
        <p:origin x="3264"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05BD08-7BC4-40A8-B356-DCBFBDEDF9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4C0D12-ACFB-4134-8B58-03B5FAF118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D17948-4685-43D6-A81F-D46550291D1B}" type="datetimeFigureOut">
              <a:rPr lang="en-US" smtClean="0"/>
              <a:t>8/20/2025</a:t>
            </a:fld>
            <a:endParaRPr lang="en-US"/>
          </a:p>
        </p:txBody>
      </p:sp>
      <p:sp>
        <p:nvSpPr>
          <p:cNvPr id="4" name="Footer Placeholder 3">
            <a:extLst>
              <a:ext uri="{FF2B5EF4-FFF2-40B4-BE49-F238E27FC236}">
                <a16:creationId xmlns:a16="http://schemas.microsoft.com/office/drawing/2014/main" id="{A812D69B-B3D2-45AC-AF8F-C838060E31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7AC8D25-61EE-4235-AFF1-15B318BAC8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3EF51-B97C-4D20-A29D-7F9F087FC618}" type="slidenum">
              <a:rPr lang="en-US" smtClean="0"/>
              <a:t>‹#›</a:t>
            </a:fld>
            <a:endParaRPr lang="en-US"/>
          </a:p>
        </p:txBody>
      </p:sp>
    </p:spTree>
    <p:extLst>
      <p:ext uri="{BB962C8B-B14F-4D97-AF65-F5344CB8AC3E}">
        <p14:creationId xmlns:p14="http://schemas.microsoft.com/office/powerpoint/2010/main" val="13146812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3A7CD-3D58-4F9F-9439-516646F956CB}" type="datetimeFigureOut">
              <a:rPr lang="en-GB" smtClean="0"/>
              <a:t>19/08/2025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0974C-2DEF-4F03-B42C-2263D3240061}" type="slidenum">
              <a:rPr lang="en-GB" smtClean="0"/>
              <a:t>‹#›</a:t>
            </a:fld>
            <a:endParaRPr lang="en-GB"/>
          </a:p>
        </p:txBody>
      </p:sp>
    </p:spTree>
    <p:extLst>
      <p:ext uri="{BB962C8B-B14F-4D97-AF65-F5344CB8AC3E}">
        <p14:creationId xmlns:p14="http://schemas.microsoft.com/office/powerpoint/2010/main" val="91807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580974C-2DEF-4F03-B42C-2263D3240061}" type="slidenum">
              <a:rPr lang="en-GB" smtClean="0"/>
              <a:t>21</a:t>
            </a:fld>
            <a:endParaRPr lang="en-GB"/>
          </a:p>
        </p:txBody>
      </p:sp>
    </p:spTree>
    <p:extLst>
      <p:ext uri="{BB962C8B-B14F-4D97-AF65-F5344CB8AC3E}">
        <p14:creationId xmlns:p14="http://schemas.microsoft.com/office/powerpoint/2010/main" val="1924107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0999" y="1600201"/>
            <a:ext cx="8991600" cy="2836614"/>
          </a:xfrm>
        </p:spPr>
        <p:txBody>
          <a:bodyPr anchor="b">
            <a:normAutofit/>
          </a:bodyPr>
          <a:lstStyle>
            <a:lvl1pPr>
              <a:defRPr sz="3038"/>
            </a:lvl1pPr>
          </a:lstStyle>
          <a:p>
            <a:r>
              <a:rPr lang="en-US"/>
              <a:t>Click to edit Master title style</a:t>
            </a:r>
            <a:endParaRPr lang="en-US" dirty="0"/>
          </a:p>
        </p:txBody>
      </p:sp>
      <p:sp>
        <p:nvSpPr>
          <p:cNvPr id="3" name="Subtitle 2"/>
          <p:cNvSpPr>
            <a:spLocks noGrp="1"/>
          </p:cNvSpPr>
          <p:nvPr>
            <p:ph type="subTitle" idx="1"/>
          </p:nvPr>
        </p:nvSpPr>
        <p:spPr>
          <a:xfrm>
            <a:off x="1727201" y="4549816"/>
            <a:ext cx="8915399" cy="1353851"/>
          </a:xfrm>
        </p:spPr>
        <p:txBody>
          <a:bodyPr anchor="t"/>
          <a:lstStyle>
            <a:lvl1pPr marL="0" indent="0" algn="l">
              <a:buNone/>
              <a:defRPr>
                <a:solidFill>
                  <a:schemeClr val="tx1">
                    <a:lumMod val="65000"/>
                    <a:lumOff val="3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183526-125D-4737-90B3-87CB331BF3EB}"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2" y="4323814"/>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5" y="4529544"/>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2906422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6771" y="304800"/>
            <a:ext cx="8911687" cy="913327"/>
          </a:xfrm>
        </p:spPr>
        <p:txBody>
          <a:bodyPr/>
          <a:lstStyle/>
          <a:p>
            <a:r>
              <a:rPr lang="en-US"/>
              <a:t>Click to edit Master title style</a:t>
            </a:r>
            <a:endParaRPr lang="en-US" dirty="0"/>
          </a:p>
        </p:txBody>
      </p:sp>
      <p:sp>
        <p:nvSpPr>
          <p:cNvPr id="3" name="Content Placeholder 2"/>
          <p:cNvSpPr>
            <a:spLocks noGrp="1"/>
          </p:cNvSpPr>
          <p:nvPr>
            <p:ph idx="1"/>
          </p:nvPr>
        </p:nvSpPr>
        <p:spPr>
          <a:xfrm>
            <a:off x="1444521" y="1627706"/>
            <a:ext cx="8953937" cy="41634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824AC5D-23EB-4C10-AF48-B4CC78E11D0E}"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3738626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92292" y="1796363"/>
            <a:ext cx="8915399" cy="1468800"/>
          </a:xfrm>
        </p:spPr>
        <p:txBody>
          <a:bodyPr anchor="b"/>
          <a:lstStyle>
            <a:lvl1pPr algn="l">
              <a:defRPr sz="2250" b="0" cap="none"/>
            </a:lvl1pPr>
          </a:lstStyle>
          <a:p>
            <a:r>
              <a:rPr lang="en-US"/>
              <a:t>Click to edit Master title style</a:t>
            </a:r>
            <a:endParaRPr lang="en-US" dirty="0"/>
          </a:p>
        </p:txBody>
      </p:sp>
      <p:sp>
        <p:nvSpPr>
          <p:cNvPr id="3" name="Text Placeholder 2"/>
          <p:cNvSpPr>
            <a:spLocks noGrp="1"/>
          </p:cNvSpPr>
          <p:nvPr>
            <p:ph type="body" idx="1"/>
          </p:nvPr>
        </p:nvSpPr>
        <p:spPr>
          <a:xfrm>
            <a:off x="1792292" y="3685475"/>
            <a:ext cx="8915399" cy="860400"/>
          </a:xfrm>
        </p:spPr>
        <p:txBody>
          <a:bodyPr anchor="t"/>
          <a:lstStyle>
            <a:lvl1pPr marL="0" indent="0" algn="l">
              <a:buNone/>
              <a:defRPr sz="1125">
                <a:solidFill>
                  <a:schemeClr val="tx1">
                    <a:lumMod val="65000"/>
                    <a:lumOff val="3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555722-DA11-4B64-98A2-9803041EAB87}"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8" y="317817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5" y="3244143"/>
            <a:ext cx="779767" cy="365125"/>
          </a:xfrm>
          <a:prstGeom prst="rect">
            <a:avLst/>
          </a:prstGeom>
        </p:spPr>
        <p:txBody>
          <a:bodyPr/>
          <a:lstStyle/>
          <a:p>
            <a:fld id="{42D34AAC-4D14-488D-93FC-3177E9299FB4}" type="slidenum">
              <a:rPr lang="en-US" smtClean="0"/>
              <a:pPr/>
              <a:t>‹#›</a:t>
            </a:fld>
            <a:endParaRPr lang="en-US"/>
          </a:p>
        </p:txBody>
      </p:sp>
      <p:pic>
        <p:nvPicPr>
          <p:cNvPr id="10" name="Picture 9" descr="kabale university new logo2">
            <a:extLst>
              <a:ext uri="{FF2B5EF4-FFF2-40B4-BE49-F238E27FC236}">
                <a16:creationId xmlns:a16="http://schemas.microsoft.com/office/drawing/2014/main" id="{03BC4E29-592B-48D9-9E9B-54B3E00546E6}"/>
              </a:ext>
            </a:extLst>
          </p:cNvPr>
          <p:cNvPicPr/>
          <p:nvPr/>
        </p:nvPicPr>
        <p:blipFill>
          <a:blip r:embed="rId2"/>
          <a:srcRect/>
          <a:stretch>
            <a:fillRect/>
          </a:stretch>
        </p:blipFill>
        <p:spPr bwMode="auto">
          <a:xfrm>
            <a:off x="10707691" y="16805"/>
            <a:ext cx="1467804" cy="1289482"/>
          </a:xfrm>
          <a:prstGeom prst="rect">
            <a:avLst/>
          </a:prstGeom>
          <a:noFill/>
          <a:ln w="9525">
            <a:noFill/>
            <a:miter lim="800000"/>
            <a:headEnd/>
            <a:tailEnd/>
          </a:ln>
        </p:spPr>
      </p:pic>
    </p:spTree>
    <p:extLst>
      <p:ext uri="{BB962C8B-B14F-4D97-AF65-F5344CB8AC3E}">
        <p14:creationId xmlns:p14="http://schemas.microsoft.com/office/powerpoint/2010/main" val="28690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22400" y="1912378"/>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23935" y="19050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67380A-235B-411A-92A0-08242CBAE255}" type="datetime1">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graphicFrame>
        <p:nvGraphicFramePr>
          <p:cNvPr id="9" name="Table 8">
            <a:extLst>
              <a:ext uri="{FF2B5EF4-FFF2-40B4-BE49-F238E27FC236}">
                <a16:creationId xmlns:a16="http://schemas.microsoft.com/office/drawing/2014/main" id="{E85D1ACC-A3A1-448F-8E0F-91F890563725}"/>
              </a:ext>
            </a:extLst>
          </p:cNvPr>
          <p:cNvGraphicFramePr>
            <a:graphicFrameLocks noGrp="1"/>
          </p:cNvGraphicFramePr>
          <p:nvPr>
            <p:extLst>
              <p:ext uri="{D42A27DB-BD31-4B8C-83A1-F6EECF244321}">
                <p14:modId xmlns:p14="http://schemas.microsoft.com/office/powerpoint/2010/main" val="2035748759"/>
              </p:ext>
            </p:extLst>
          </p:nvPr>
        </p:nvGraphicFramePr>
        <p:xfrm>
          <a:off x="1315907" y="8406"/>
          <a:ext cx="10859588" cy="1306287"/>
        </p:xfrm>
        <a:graphic>
          <a:graphicData uri="http://schemas.openxmlformats.org/drawingml/2006/table">
            <a:tbl>
              <a:tblPr firstRow="1" firstCol="1" bandRow="1">
                <a:tableStyleId>{5C22544A-7EE6-4342-B048-85BDC9FD1C3A}</a:tableStyleId>
              </a:tblPr>
              <a:tblGrid>
                <a:gridCol w="10859588">
                  <a:extLst>
                    <a:ext uri="{9D8B030D-6E8A-4147-A177-3AD203B41FA5}">
                      <a16:colId xmlns:a16="http://schemas.microsoft.com/office/drawing/2014/main" val="20000"/>
                    </a:ext>
                  </a:extLst>
                </a:gridCol>
              </a:tblGrid>
              <a:tr h="1306287">
                <a:tc>
                  <a:txBody>
                    <a:bodyPr/>
                    <a:lstStyle/>
                    <a:p>
                      <a:pPr marL="0" marR="0" algn="ctr">
                        <a:spcBef>
                          <a:spcPts val="1200"/>
                        </a:spcBef>
                        <a:spcAft>
                          <a:spcPts val="0"/>
                        </a:spcAft>
                      </a:pP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bl>
          </a:graphicData>
        </a:graphic>
      </p:graphicFrame>
      <p:pic>
        <p:nvPicPr>
          <p:cNvPr id="12" name="Picture 11" descr="kabale university new logo2">
            <a:extLst>
              <a:ext uri="{FF2B5EF4-FFF2-40B4-BE49-F238E27FC236}">
                <a16:creationId xmlns:a16="http://schemas.microsoft.com/office/drawing/2014/main" id="{FE130AFE-F41A-42E9-8085-412385931114}"/>
              </a:ext>
            </a:extLst>
          </p:cNvPr>
          <p:cNvPicPr/>
          <p:nvPr/>
        </p:nvPicPr>
        <p:blipFill>
          <a:blip r:embed="rId2"/>
          <a:srcRect/>
          <a:stretch>
            <a:fillRect/>
          </a:stretch>
        </p:blipFill>
        <p:spPr bwMode="auto">
          <a:xfrm>
            <a:off x="10707691" y="16805"/>
            <a:ext cx="1467804" cy="1289482"/>
          </a:xfrm>
          <a:prstGeom prst="rect">
            <a:avLst/>
          </a:prstGeom>
          <a:noFill/>
          <a:ln w="9525">
            <a:noFill/>
            <a:miter lim="800000"/>
            <a:headEnd/>
            <a:tailEnd/>
          </a:ln>
        </p:spPr>
      </p:pic>
    </p:spTree>
    <p:extLst>
      <p:ext uri="{BB962C8B-B14F-4D97-AF65-F5344CB8AC3E}">
        <p14:creationId xmlns:p14="http://schemas.microsoft.com/office/powerpoint/2010/main" val="3682124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874163" y="1755828"/>
            <a:ext cx="3992732" cy="576262"/>
          </a:xfrm>
        </p:spPr>
        <p:txBody>
          <a:bodyPr anchor="b">
            <a:noAutofit/>
          </a:bodyPr>
          <a:lstStyle>
            <a:lvl1pPr marL="0" indent="0">
              <a:buNone/>
              <a:defRPr sz="1350" b="0"/>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1524000" y="2332091"/>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1420" y="1752600"/>
            <a:ext cx="3999001" cy="576262"/>
          </a:xfrm>
        </p:spPr>
        <p:txBody>
          <a:bodyPr anchor="b">
            <a:noAutofit/>
          </a:bodyPr>
          <a:lstStyle>
            <a:lvl1pPr marL="0" indent="0">
              <a:buNone/>
              <a:defRPr sz="1350" b="0"/>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01745" y="2328863"/>
            <a:ext cx="4338675"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2E6491-EBF4-4508-828C-C9A2DF1F5E9B}" type="datetime1">
              <a:rPr lang="en-US" smtClean="0"/>
              <a:t>8/19/2025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graphicFrame>
        <p:nvGraphicFramePr>
          <p:cNvPr id="11" name="Table 10">
            <a:extLst>
              <a:ext uri="{FF2B5EF4-FFF2-40B4-BE49-F238E27FC236}">
                <a16:creationId xmlns:a16="http://schemas.microsoft.com/office/drawing/2014/main" id="{55E65879-AA54-4BDE-882A-0D417FF51189}"/>
              </a:ext>
            </a:extLst>
          </p:cNvPr>
          <p:cNvGraphicFramePr>
            <a:graphicFrameLocks noGrp="1"/>
          </p:cNvGraphicFramePr>
          <p:nvPr>
            <p:extLst>
              <p:ext uri="{D42A27DB-BD31-4B8C-83A1-F6EECF244321}">
                <p14:modId xmlns:p14="http://schemas.microsoft.com/office/powerpoint/2010/main" val="568563782"/>
              </p:ext>
            </p:extLst>
          </p:nvPr>
        </p:nvGraphicFramePr>
        <p:xfrm>
          <a:off x="1315907" y="8406"/>
          <a:ext cx="10859588" cy="1306287"/>
        </p:xfrm>
        <a:graphic>
          <a:graphicData uri="http://schemas.openxmlformats.org/drawingml/2006/table">
            <a:tbl>
              <a:tblPr firstRow="1" firstCol="1" bandRow="1">
                <a:tableStyleId>{5C22544A-7EE6-4342-B048-85BDC9FD1C3A}</a:tableStyleId>
              </a:tblPr>
              <a:tblGrid>
                <a:gridCol w="10859588">
                  <a:extLst>
                    <a:ext uri="{9D8B030D-6E8A-4147-A177-3AD203B41FA5}">
                      <a16:colId xmlns:a16="http://schemas.microsoft.com/office/drawing/2014/main" val="20000"/>
                    </a:ext>
                  </a:extLst>
                </a:gridCol>
              </a:tblGrid>
              <a:tr h="1306287">
                <a:tc>
                  <a:txBody>
                    <a:bodyPr/>
                    <a:lstStyle/>
                    <a:p>
                      <a:pPr marL="0" marR="0" algn="ctr">
                        <a:spcBef>
                          <a:spcPts val="1200"/>
                        </a:spcBef>
                        <a:spcAft>
                          <a:spcPts val="0"/>
                        </a:spcAft>
                      </a:pP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bl>
          </a:graphicData>
        </a:graphic>
      </p:graphicFrame>
      <p:pic>
        <p:nvPicPr>
          <p:cNvPr id="14" name="Picture 13" descr="kabale university new logo2">
            <a:extLst>
              <a:ext uri="{FF2B5EF4-FFF2-40B4-BE49-F238E27FC236}">
                <a16:creationId xmlns:a16="http://schemas.microsoft.com/office/drawing/2014/main" id="{E6F897A1-2E2B-4159-B97D-9496846B59DD}"/>
              </a:ext>
            </a:extLst>
          </p:cNvPr>
          <p:cNvPicPr/>
          <p:nvPr/>
        </p:nvPicPr>
        <p:blipFill>
          <a:blip r:embed="rId2"/>
          <a:srcRect/>
          <a:stretch>
            <a:fillRect/>
          </a:stretch>
        </p:blipFill>
        <p:spPr bwMode="auto">
          <a:xfrm>
            <a:off x="10707691" y="16805"/>
            <a:ext cx="1467804" cy="1289482"/>
          </a:xfrm>
          <a:prstGeom prst="rect">
            <a:avLst/>
          </a:prstGeom>
          <a:noFill/>
          <a:ln w="9525">
            <a:noFill/>
            <a:miter lim="800000"/>
            <a:headEnd/>
            <a:tailEnd/>
          </a:ln>
        </p:spPr>
      </p:pic>
    </p:spTree>
    <p:extLst>
      <p:ext uri="{BB962C8B-B14F-4D97-AF65-F5344CB8AC3E}">
        <p14:creationId xmlns:p14="http://schemas.microsoft.com/office/powerpoint/2010/main" val="1173568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BE0DB-8D1E-4C6B-B060-3ABE7D6F6E01}" type="datetime1">
              <a:rPr lang="en-US" smtClean="0"/>
              <a:t>8/19/2025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graphicFrame>
        <p:nvGraphicFramePr>
          <p:cNvPr id="8" name="Table 7">
            <a:extLst>
              <a:ext uri="{FF2B5EF4-FFF2-40B4-BE49-F238E27FC236}">
                <a16:creationId xmlns:a16="http://schemas.microsoft.com/office/drawing/2014/main" id="{F1F9773A-3301-4F9D-A56C-399A8BE98F87}"/>
              </a:ext>
            </a:extLst>
          </p:cNvPr>
          <p:cNvGraphicFramePr>
            <a:graphicFrameLocks noGrp="1"/>
          </p:cNvGraphicFramePr>
          <p:nvPr>
            <p:extLst>
              <p:ext uri="{D42A27DB-BD31-4B8C-83A1-F6EECF244321}">
                <p14:modId xmlns:p14="http://schemas.microsoft.com/office/powerpoint/2010/main" val="2052238316"/>
              </p:ext>
            </p:extLst>
          </p:nvPr>
        </p:nvGraphicFramePr>
        <p:xfrm>
          <a:off x="1315907" y="8406"/>
          <a:ext cx="10859588" cy="1306287"/>
        </p:xfrm>
        <a:graphic>
          <a:graphicData uri="http://schemas.openxmlformats.org/drawingml/2006/table">
            <a:tbl>
              <a:tblPr firstRow="1" firstCol="1" bandRow="1">
                <a:tableStyleId>{5C22544A-7EE6-4342-B048-85BDC9FD1C3A}</a:tableStyleId>
              </a:tblPr>
              <a:tblGrid>
                <a:gridCol w="10859588">
                  <a:extLst>
                    <a:ext uri="{9D8B030D-6E8A-4147-A177-3AD203B41FA5}">
                      <a16:colId xmlns:a16="http://schemas.microsoft.com/office/drawing/2014/main" val="20000"/>
                    </a:ext>
                  </a:extLst>
                </a:gridCol>
              </a:tblGrid>
              <a:tr h="1306287">
                <a:tc>
                  <a:txBody>
                    <a:bodyPr/>
                    <a:lstStyle/>
                    <a:p>
                      <a:pPr marL="0" marR="0" algn="ctr">
                        <a:spcBef>
                          <a:spcPts val="1200"/>
                        </a:spcBef>
                        <a:spcAft>
                          <a:spcPts val="0"/>
                        </a:spcAft>
                      </a:pP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bl>
          </a:graphicData>
        </a:graphic>
      </p:graphicFrame>
      <p:pic>
        <p:nvPicPr>
          <p:cNvPr id="9" name="Picture 8" descr="kabale university new logo2">
            <a:extLst>
              <a:ext uri="{FF2B5EF4-FFF2-40B4-BE49-F238E27FC236}">
                <a16:creationId xmlns:a16="http://schemas.microsoft.com/office/drawing/2014/main" id="{015F235D-9B53-4B87-883F-7C1238FDACEC}"/>
              </a:ext>
            </a:extLst>
          </p:cNvPr>
          <p:cNvPicPr/>
          <p:nvPr/>
        </p:nvPicPr>
        <p:blipFill>
          <a:blip r:embed="rId2"/>
          <a:srcRect/>
          <a:stretch>
            <a:fillRect/>
          </a:stretch>
        </p:blipFill>
        <p:spPr bwMode="auto">
          <a:xfrm>
            <a:off x="10707691" y="16805"/>
            <a:ext cx="1467804" cy="1289482"/>
          </a:xfrm>
          <a:prstGeom prst="rect">
            <a:avLst/>
          </a:prstGeom>
          <a:noFill/>
          <a:ln w="9525">
            <a:noFill/>
            <a:miter lim="800000"/>
            <a:headEnd/>
            <a:tailEnd/>
          </a:ln>
        </p:spPr>
      </p:pic>
    </p:spTree>
    <p:extLst>
      <p:ext uri="{BB962C8B-B14F-4D97-AF65-F5344CB8AC3E}">
        <p14:creationId xmlns:p14="http://schemas.microsoft.com/office/powerpoint/2010/main" val="3687171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E54AA7-A5A4-45B2-8DCE-11BBCEC68178}" type="datetime1">
              <a:rPr lang="en-US" smtClean="0"/>
              <a:t>8/19/2025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1105884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2" y="1490295"/>
            <a:ext cx="3505199" cy="795705"/>
          </a:xfrm>
        </p:spPr>
        <p:txBody>
          <a:bodyPr anchor="b"/>
          <a:lstStyle>
            <a:lvl1pPr algn="l">
              <a:defRPr sz="1125" b="0"/>
            </a:lvl1pPr>
          </a:lstStyle>
          <a:p>
            <a:r>
              <a:rPr lang="en-US"/>
              <a:t>Click to edit Master title style</a:t>
            </a:r>
            <a:endParaRPr lang="en-US" dirty="0"/>
          </a:p>
        </p:txBody>
      </p:sp>
      <p:sp>
        <p:nvSpPr>
          <p:cNvPr id="3" name="Content Placeholder 2"/>
          <p:cNvSpPr>
            <a:spLocks noGrp="1"/>
          </p:cNvSpPr>
          <p:nvPr>
            <p:ph idx="1"/>
          </p:nvPr>
        </p:nvSpPr>
        <p:spPr>
          <a:xfrm>
            <a:off x="5303343" y="1447800"/>
            <a:ext cx="5181600" cy="4413254"/>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69546" y="2387117"/>
            <a:ext cx="3505199" cy="347393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86027420-79C1-46B6-A8A9-FBF5DFB286E2}" type="datetime1">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981049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49400" y="4959350"/>
            <a:ext cx="8915400" cy="566738"/>
          </a:xfrm>
        </p:spPr>
        <p:txBody>
          <a:bodyPr anchor="b">
            <a:normAutofit/>
          </a:bodyPr>
          <a:lstStyle>
            <a:lvl1pPr algn="l">
              <a:defRPr sz="135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49399" y="1482514"/>
            <a:ext cx="8915400" cy="3400636"/>
          </a:xfrm>
        </p:spPr>
        <p:txBody>
          <a:bodyPr anchor="t">
            <a:normAutofit/>
          </a:bodyPr>
          <a:lstStyle>
            <a:lvl1pPr marL="0" indent="0" algn="ctr">
              <a:buNone/>
              <a:defRPr sz="900"/>
            </a:lvl1pPr>
            <a:lvl2pPr marL="257175" indent="0">
              <a:buNone/>
              <a:defRPr sz="900"/>
            </a:lvl2pPr>
            <a:lvl3pPr marL="514350" indent="0">
              <a:buNone/>
              <a:defRPr sz="900"/>
            </a:lvl3pPr>
            <a:lvl4pPr marL="771525" indent="0">
              <a:buNone/>
              <a:defRPr sz="900"/>
            </a:lvl4pPr>
            <a:lvl5pPr marL="1028700" indent="0">
              <a:buNone/>
              <a:defRPr sz="900"/>
            </a:lvl5pPr>
            <a:lvl6pPr marL="1285875" indent="0">
              <a:buNone/>
              <a:defRPr sz="900"/>
            </a:lvl6pPr>
            <a:lvl7pPr marL="1543050" indent="0">
              <a:buNone/>
              <a:defRPr sz="900"/>
            </a:lvl7pPr>
            <a:lvl8pPr marL="1800225" indent="0">
              <a:buNone/>
              <a:defRPr sz="900"/>
            </a:lvl8pPr>
            <a:lvl9pPr marL="2057400" indent="0">
              <a:buNone/>
              <a:defRPr sz="900"/>
            </a:lvl9pPr>
          </a:lstStyle>
          <a:p>
            <a:r>
              <a:rPr lang="en-US"/>
              <a:t>Click icon to add picture</a:t>
            </a:r>
            <a:endParaRPr lang="en-US" dirty="0"/>
          </a:p>
        </p:txBody>
      </p:sp>
      <p:sp>
        <p:nvSpPr>
          <p:cNvPr id="4" name="Text Placeholder 3"/>
          <p:cNvSpPr>
            <a:spLocks noGrp="1"/>
          </p:cNvSpPr>
          <p:nvPr>
            <p:ph type="body" sz="half" idx="2"/>
          </p:nvPr>
        </p:nvSpPr>
        <p:spPr>
          <a:xfrm>
            <a:off x="1549400" y="5526088"/>
            <a:ext cx="8915400" cy="493712"/>
          </a:xfrm>
        </p:spPr>
        <p:txBody>
          <a:bodyPr>
            <a:normAutofit/>
          </a:bodyPr>
          <a:lstStyle>
            <a:lvl1pPr marL="0" indent="0">
              <a:buNone/>
              <a:defRPr sz="675"/>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9519BDD0-6FAF-4965-8B42-193278C6336D}" type="datetime1">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8" y="491172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5" y="4983091"/>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3788666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625601" y="1219200"/>
            <a:ext cx="8915399" cy="3117040"/>
          </a:xfrm>
        </p:spPr>
        <p:txBody>
          <a:bodyPr anchor="ctr">
            <a:normAutofit/>
          </a:bodyPr>
          <a:lstStyle>
            <a:lvl1pPr algn="l">
              <a:defRPr sz="2700" b="0" cap="none"/>
            </a:lvl1pPr>
          </a:lstStyle>
          <a:p>
            <a:r>
              <a:rPr lang="en-US"/>
              <a:t>Click to edit Master title style</a:t>
            </a:r>
            <a:endParaRPr lang="en-US" dirty="0"/>
          </a:p>
        </p:txBody>
      </p:sp>
      <p:sp>
        <p:nvSpPr>
          <p:cNvPr id="3" name="Text Placeholder 2"/>
          <p:cNvSpPr>
            <a:spLocks noGrp="1"/>
          </p:cNvSpPr>
          <p:nvPr>
            <p:ph type="body" idx="1"/>
          </p:nvPr>
        </p:nvSpPr>
        <p:spPr>
          <a:xfrm>
            <a:off x="1625601" y="4463936"/>
            <a:ext cx="8915399" cy="1555864"/>
          </a:xfrm>
        </p:spPr>
        <p:txBody>
          <a:bodyPr anchor="ctr">
            <a:normAutofit/>
          </a:bodyPr>
          <a:lstStyle>
            <a:lvl1pPr marL="0" indent="0" algn="l">
              <a:buNone/>
              <a:defRPr sz="1013">
                <a:solidFill>
                  <a:schemeClr val="tx1">
                    <a:lumMod val="65000"/>
                    <a:lumOff val="3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0B4A08-A57A-459F-B2E3-90A44CB2F27D}"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8" y="317817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5" y="3244143"/>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2818749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6337" y="1353317"/>
            <a:ext cx="8393927" cy="2685283"/>
          </a:xfrm>
        </p:spPr>
        <p:txBody>
          <a:bodyPr anchor="ctr">
            <a:normAutofit/>
          </a:bodyPr>
          <a:lstStyle>
            <a:lvl1pPr algn="l">
              <a:defRPr sz="27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311399" y="4038600"/>
            <a:ext cx="7536555" cy="381000"/>
          </a:xfrm>
        </p:spPr>
        <p:txBody>
          <a:bodyPr anchor="ctr">
            <a:noAutofit/>
          </a:bodyPr>
          <a:lstStyle>
            <a:lvl1pPr marL="0" indent="0">
              <a:buFontTx/>
              <a:buNone/>
              <a:defRPr sz="900">
                <a:solidFill>
                  <a:schemeClr val="tx1">
                    <a:lumMod val="50000"/>
                    <a:lumOff val="50000"/>
                  </a:schemeClr>
                </a:solidFill>
              </a:defRPr>
            </a:lvl1pPr>
            <a:lvl2pPr marL="257175" indent="0">
              <a:buFontTx/>
              <a:buNone/>
              <a:defRPr/>
            </a:lvl2pPr>
            <a:lvl3pPr marL="514350" indent="0">
              <a:buFontTx/>
              <a:buNone/>
              <a:defRPr/>
            </a:lvl3pPr>
            <a:lvl4pPr marL="771525" indent="0">
              <a:buFontTx/>
              <a:buNone/>
              <a:defRPr/>
            </a:lvl4pPr>
            <a:lvl5pPr marL="1028700" indent="0">
              <a:buFontTx/>
              <a:buNone/>
              <a:defRPr/>
            </a:lvl5pPr>
          </a:lstStyle>
          <a:p>
            <a:pPr lvl="0"/>
            <a:r>
              <a:rPr lang="en-US"/>
              <a:t>Click to edit Master text styles</a:t>
            </a:r>
          </a:p>
        </p:txBody>
      </p:sp>
      <p:sp>
        <p:nvSpPr>
          <p:cNvPr id="3" name="Text Placeholder 2"/>
          <p:cNvSpPr>
            <a:spLocks noGrp="1"/>
          </p:cNvSpPr>
          <p:nvPr>
            <p:ph type="body" idx="1"/>
          </p:nvPr>
        </p:nvSpPr>
        <p:spPr>
          <a:xfrm>
            <a:off x="1625601" y="4540136"/>
            <a:ext cx="8915399" cy="1555864"/>
          </a:xfrm>
        </p:spPr>
        <p:txBody>
          <a:bodyPr anchor="ctr">
            <a:normAutofit/>
          </a:bodyPr>
          <a:lstStyle>
            <a:lvl1pPr marL="0" indent="0" algn="l">
              <a:buNone/>
              <a:defRPr sz="1013">
                <a:solidFill>
                  <a:schemeClr val="tx1">
                    <a:lumMod val="65000"/>
                    <a:lumOff val="3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657DDD-DC9C-4A70-96F1-CEC42DC6EDC3}"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8" y="317817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5" y="3244143"/>
            <a:ext cx="779767" cy="365125"/>
          </a:xfrm>
          <a:prstGeom prst="rect">
            <a:avLst/>
          </a:prstGeom>
        </p:spPr>
        <p:txBody>
          <a:bodyPr/>
          <a:lstStyle/>
          <a:p>
            <a:fld id="{42D34AAC-4D14-488D-93FC-3177E9299FB4}" type="slidenum">
              <a:rPr lang="en-US" smtClean="0"/>
              <a:pPr/>
              <a:t>‹#›</a:t>
            </a:fld>
            <a:endParaRPr lang="en-US"/>
          </a:p>
        </p:txBody>
      </p:sp>
      <p:sp>
        <p:nvSpPr>
          <p:cNvPr id="14" name="TextBox 13"/>
          <p:cNvSpPr txBox="1"/>
          <p:nvPr/>
        </p:nvSpPr>
        <p:spPr>
          <a:xfrm>
            <a:off x="2467652" y="648005"/>
            <a:ext cx="609600" cy="584776"/>
          </a:xfrm>
          <a:prstGeom prst="rect">
            <a:avLst/>
          </a:prstGeom>
        </p:spPr>
        <p:txBody>
          <a:bodyPr vert="horz" lIns="51435" tIns="25718" rIns="51435" bIns="25718" rtlCol="0" anchor="ctr">
            <a:noAutofit/>
          </a:bodyPr>
          <a:lstStyle/>
          <a:p>
            <a:pPr lvl="0"/>
            <a:r>
              <a:rPr lang="en-US" sz="45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51435" tIns="25718" rIns="51435" bIns="25718" rtlCol="0" anchor="ctr">
            <a:noAutofit/>
          </a:bodyPr>
          <a:lstStyle/>
          <a:p>
            <a:pPr lvl="0"/>
            <a:r>
              <a:rPr lang="en-US" sz="45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5037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24000" y="1676400"/>
            <a:ext cx="8915400" cy="3410648"/>
          </a:xfrm>
        </p:spPr>
        <p:txBody>
          <a:bodyPr anchor="b">
            <a:normAutofit/>
          </a:bodyPr>
          <a:lstStyle>
            <a:lvl1pPr algn="l">
              <a:defRPr sz="2700" b="0"/>
            </a:lvl1pPr>
          </a:lstStyle>
          <a:p>
            <a:r>
              <a:rPr lang="en-US"/>
              <a:t>Click to edit Master title style</a:t>
            </a:r>
            <a:endParaRPr lang="en-US" dirty="0"/>
          </a:p>
        </p:txBody>
      </p:sp>
      <p:sp>
        <p:nvSpPr>
          <p:cNvPr id="4" name="Text Placeholder 3"/>
          <p:cNvSpPr>
            <a:spLocks noGrp="1"/>
          </p:cNvSpPr>
          <p:nvPr>
            <p:ph type="body" sz="half" idx="2"/>
          </p:nvPr>
        </p:nvSpPr>
        <p:spPr>
          <a:xfrm>
            <a:off x="1524000"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7B5743-DBAF-4747-BC95-E84DEE4EE061}" type="datetime1">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8" y="491172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5" y="4983091"/>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100061381"/>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1784739" y="1371600"/>
            <a:ext cx="8393927" cy="2133600"/>
          </a:xfrm>
        </p:spPr>
        <p:txBody>
          <a:bodyPr anchor="ctr">
            <a:normAutofit/>
          </a:bodyPr>
          <a:lstStyle>
            <a:lvl1pPr algn="l">
              <a:defRPr sz="27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524000" y="4343400"/>
            <a:ext cx="8915400" cy="838200"/>
          </a:xfrm>
        </p:spPr>
        <p:txBody>
          <a:bodyPr anchor="b">
            <a:noAutofit/>
          </a:bodyPr>
          <a:lstStyle>
            <a:lvl1pPr marL="0" indent="0">
              <a:buFontTx/>
              <a:buNone/>
              <a:defRPr sz="1350">
                <a:solidFill>
                  <a:schemeClr val="accent1"/>
                </a:solidFill>
              </a:defRPr>
            </a:lvl1pPr>
            <a:lvl2pPr marL="257175" indent="0">
              <a:buFontTx/>
              <a:buNone/>
              <a:defRPr/>
            </a:lvl2pPr>
            <a:lvl3pPr marL="514350" indent="0">
              <a:buFontTx/>
              <a:buNone/>
              <a:defRPr/>
            </a:lvl3pPr>
            <a:lvl4pPr marL="771525" indent="0">
              <a:buFontTx/>
              <a:buNone/>
              <a:defRPr/>
            </a:lvl4pPr>
            <a:lvl5pPr marL="10287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524001"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7B5743-DBAF-4747-BC95-E84DEE4EE061}" type="datetime1">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8" y="491172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5" y="4983091"/>
            <a:ext cx="779767" cy="365125"/>
          </a:xfrm>
          <a:prstGeom prst="rect">
            <a:avLst/>
          </a:prstGeom>
        </p:spPr>
        <p:txBody>
          <a:bodyPr/>
          <a:lstStyle/>
          <a:p>
            <a:fld id="{42D34AAC-4D14-488D-93FC-3177E9299FB4}" type="slidenum">
              <a:rPr lang="en-US" smtClean="0"/>
              <a:pPr/>
              <a:t>‹#›</a:t>
            </a:fld>
            <a:endParaRPr lang="en-US"/>
          </a:p>
        </p:txBody>
      </p:sp>
      <p:sp>
        <p:nvSpPr>
          <p:cNvPr id="17" name="TextBox 16"/>
          <p:cNvSpPr txBox="1"/>
          <p:nvPr/>
        </p:nvSpPr>
        <p:spPr>
          <a:xfrm>
            <a:off x="2467652" y="648005"/>
            <a:ext cx="609600" cy="584776"/>
          </a:xfrm>
          <a:prstGeom prst="rect">
            <a:avLst/>
          </a:prstGeom>
        </p:spPr>
        <p:txBody>
          <a:bodyPr vert="horz" lIns="51435" tIns="25718" rIns="51435" bIns="25718" rtlCol="0" anchor="ctr">
            <a:noAutofit/>
          </a:bodyPr>
          <a:lstStyle/>
          <a:p>
            <a:pPr lvl="0"/>
            <a:r>
              <a:rPr lang="en-US" sz="45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51435" tIns="25718" rIns="51435" bIns="25718" rtlCol="0" anchor="ctr">
            <a:noAutofit/>
          </a:bodyPr>
          <a:lstStyle/>
          <a:p>
            <a:pPr lvl="0"/>
            <a:r>
              <a:rPr lang="en-US" sz="45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98240347"/>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625603" y="1371600"/>
            <a:ext cx="8915399" cy="2135827"/>
          </a:xfrm>
        </p:spPr>
        <p:txBody>
          <a:bodyPr anchor="ctr">
            <a:normAutofit/>
          </a:bodyPr>
          <a:lstStyle>
            <a:lvl1pPr algn="l">
              <a:defRPr sz="2700" b="0"/>
            </a:lvl1pPr>
          </a:lstStyle>
          <a:p>
            <a:r>
              <a:rPr lang="en-US"/>
              <a:t>Click to edit Master title style</a:t>
            </a:r>
            <a:endParaRPr lang="en-US" dirty="0"/>
          </a:p>
        </p:txBody>
      </p:sp>
      <p:sp>
        <p:nvSpPr>
          <p:cNvPr id="21" name="Text Placeholder 9"/>
          <p:cNvSpPr>
            <a:spLocks noGrp="1"/>
          </p:cNvSpPr>
          <p:nvPr>
            <p:ph type="body" sz="quarter" idx="13"/>
          </p:nvPr>
        </p:nvSpPr>
        <p:spPr>
          <a:xfrm>
            <a:off x="1625600" y="4343400"/>
            <a:ext cx="8915400" cy="838200"/>
          </a:xfrm>
        </p:spPr>
        <p:txBody>
          <a:bodyPr anchor="b">
            <a:noAutofit/>
          </a:bodyPr>
          <a:lstStyle>
            <a:lvl1pPr marL="0" indent="0">
              <a:buFontTx/>
              <a:buNone/>
              <a:defRPr sz="1350">
                <a:solidFill>
                  <a:schemeClr val="accent1"/>
                </a:solidFill>
              </a:defRPr>
            </a:lvl1pPr>
            <a:lvl2pPr marL="257175" indent="0">
              <a:buFontTx/>
              <a:buNone/>
              <a:defRPr/>
            </a:lvl2pPr>
            <a:lvl3pPr marL="514350" indent="0">
              <a:buFontTx/>
              <a:buNone/>
              <a:defRPr/>
            </a:lvl3pPr>
            <a:lvl4pPr marL="771525" indent="0">
              <a:buFontTx/>
              <a:buNone/>
              <a:defRPr/>
            </a:lvl4pPr>
            <a:lvl5pPr marL="10287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625601"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7B5743-DBAF-4747-BC95-E84DEE4EE061}" type="datetime1">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8" y="491172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5" y="4983091"/>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982835642"/>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5C33F4-56AA-4D3D-AB09-4A4ABEBA8674}"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864176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4" y="627409"/>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9"/>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8B8B38-11C4-4F4D-8104-4C7CF6DAB34D}" type="datetime1">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8" y="714379"/>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5" y="787785"/>
            <a:ext cx="779767" cy="365125"/>
          </a:xfrm>
          <a:prstGeom prst="rect">
            <a:avLst/>
          </a:prstGeom>
        </p:spPr>
        <p:txBody>
          <a:bodyPr/>
          <a:lstStyle/>
          <a:p>
            <a:fld id="{42D34AAC-4D14-488D-93FC-3177E9299FB4}" type="slidenum">
              <a:rPr lang="en-US" smtClean="0"/>
              <a:pPr/>
              <a:t>‹#›</a:t>
            </a:fld>
            <a:endParaRPr lang="en-US"/>
          </a:p>
        </p:txBody>
      </p:sp>
    </p:spTree>
    <p:extLst>
      <p:ext uri="{BB962C8B-B14F-4D97-AF65-F5344CB8AC3E}">
        <p14:creationId xmlns:p14="http://schemas.microsoft.com/office/powerpoint/2010/main" val="216001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304903"/>
            <a:ext cx="9245597" cy="609497"/>
          </a:xfrm>
        </p:spPr>
        <p:txBody>
          <a:bodyPr/>
          <a:lstStyle/>
          <a:p>
            <a:r>
              <a:rPr lang="en-US"/>
              <a:t>Click to edit Master title style</a:t>
            </a:r>
          </a:p>
        </p:txBody>
      </p:sp>
      <p:sp>
        <p:nvSpPr>
          <p:cNvPr id="3" name="Text Placeholder 2"/>
          <p:cNvSpPr>
            <a:spLocks noGrp="1"/>
          </p:cNvSpPr>
          <p:nvPr>
            <p:ph type="body" sz="half" idx="1"/>
          </p:nvPr>
        </p:nvSpPr>
        <p:spPr>
          <a:xfrm>
            <a:off x="406400" y="1257731"/>
            <a:ext cx="5638800" cy="51430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248400" y="1257732"/>
            <a:ext cx="5638800" cy="25522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248400" y="3848531"/>
            <a:ext cx="5638800" cy="25522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dt" sz="half" idx="10"/>
          </p:nvPr>
        </p:nvSpPr>
        <p:spPr>
          <a:ln/>
        </p:spPr>
        <p:txBody>
          <a:bodyPr/>
          <a:lstStyle>
            <a:lvl1pPr>
              <a:defRPr/>
            </a:lvl1pPr>
          </a:lstStyle>
          <a:p>
            <a:fld id="{237B5743-DBAF-4747-BC95-E84DEE4EE061}" type="datetime1">
              <a:rPr lang="en-US" smtClean="0"/>
              <a:t>8/19/2025</a:t>
            </a:fld>
            <a:endParaRPr lang="en-US"/>
          </a:p>
        </p:txBody>
      </p:sp>
      <p:sp>
        <p:nvSpPr>
          <p:cNvPr id="7" name="Rectangle 9"/>
          <p:cNvSpPr>
            <a:spLocks noGrp="1" noChangeArrowheads="1"/>
          </p:cNvSpPr>
          <p:nvPr>
            <p:ph type="sldNum" sz="quarter" idx="11"/>
          </p:nvPr>
        </p:nvSpPr>
        <p:spPr>
          <a:ln/>
        </p:spPr>
        <p:txBody>
          <a:bodyPr/>
          <a:lstStyle>
            <a:lvl1pPr>
              <a:defRPr/>
            </a:lvl1pPr>
          </a:lstStyle>
          <a:p>
            <a:fld id="{42D34AAC-4D14-488D-93FC-3177E9299FB4}" type="slidenum">
              <a:rPr lang="en-US" smtClean="0"/>
              <a:pPr/>
              <a:t>‹#›</a:t>
            </a:fld>
            <a:endParaRPr lang="en-US"/>
          </a:p>
        </p:txBody>
      </p:sp>
    </p:spTree>
    <p:extLst>
      <p:ext uri="{BB962C8B-B14F-4D97-AF65-F5344CB8AC3E}">
        <p14:creationId xmlns:p14="http://schemas.microsoft.com/office/powerpoint/2010/main" val="1551644884"/>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304800"/>
            <a:ext cx="924559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638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371600"/>
            <a:ext cx="5638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fld id="{237B5743-DBAF-4747-BC95-E84DEE4EE061}" type="datetime1">
              <a:rPr lang="en-US" smtClean="0"/>
              <a:t>8/19/2025</a:t>
            </a:fld>
            <a:endParaRPr lang="en-US"/>
          </a:p>
        </p:txBody>
      </p:sp>
      <p:sp>
        <p:nvSpPr>
          <p:cNvPr id="6" name="Rectangle 9"/>
          <p:cNvSpPr>
            <a:spLocks noGrp="1" noChangeArrowheads="1"/>
          </p:cNvSpPr>
          <p:nvPr>
            <p:ph type="sldNum" sz="quarter" idx="11"/>
          </p:nvPr>
        </p:nvSpPr>
        <p:spPr>
          <a:ln/>
        </p:spPr>
        <p:txBody>
          <a:bodyPr/>
          <a:lstStyle>
            <a:lvl1pPr>
              <a:defRPr/>
            </a:lvl1pPr>
          </a:lstStyle>
          <a:p>
            <a:fld id="{42D34AAC-4D14-488D-93FC-3177E9299FB4}" type="slidenum">
              <a:rPr lang="en-US" smtClean="0"/>
              <a:pPr/>
              <a:t>‹#›</a:t>
            </a:fld>
            <a:endParaRPr lang="en-US"/>
          </a:p>
        </p:txBody>
      </p:sp>
    </p:spTree>
    <p:extLst>
      <p:ext uri="{BB962C8B-B14F-4D97-AF65-F5344CB8AC3E}">
        <p14:creationId xmlns:p14="http://schemas.microsoft.com/office/powerpoint/2010/main" val="1624424101"/>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4" y="219372"/>
            <a:ext cx="1782025" cy="6638628"/>
            <a:chOff x="2487613" y="285750"/>
            <a:chExt cx="2428875" cy="5654676"/>
          </a:xfrm>
          <a:solidFill>
            <a:schemeClr val="accent1"/>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w="28575">
              <a:solidFill>
                <a:schemeClr val="accent1"/>
              </a:solid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w="28575">
              <a:solidFill>
                <a:schemeClr val="accent1"/>
              </a:solid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w="28575">
              <a:solidFill>
                <a:schemeClr val="accent1"/>
              </a:solid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w="28575">
              <a:solidFill>
                <a:schemeClr val="accent1"/>
              </a:solid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w="28575">
              <a:solidFill>
                <a:schemeClr val="accent1"/>
              </a:solid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w="28575">
              <a:solidFill>
                <a:schemeClr val="accent1"/>
              </a:solid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w="28575">
              <a:solidFill>
                <a:schemeClr val="accent1"/>
              </a:solid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w="28575">
              <a:solidFill>
                <a:schemeClr val="accent1"/>
              </a:solid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w="28575">
              <a:solidFill>
                <a:schemeClr val="accent1"/>
              </a:solid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w="28575">
              <a:solidFill>
                <a:schemeClr val="accent1"/>
              </a:solid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w="28575">
              <a:solidFill>
                <a:schemeClr val="accent1"/>
              </a:solid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w="28575">
              <a:solidFill>
                <a:schemeClr val="accent1"/>
              </a:solidFill>
            </a:ln>
          </p:spPr>
        </p:sp>
      </p:grpSp>
      <p:grpSp>
        <p:nvGrpSpPr>
          <p:cNvPr id="10" name="Group 9"/>
          <p:cNvGrpSpPr/>
          <p:nvPr/>
        </p:nvGrpSpPr>
        <p:grpSpPr>
          <a:xfrm>
            <a:off x="27222" y="-786"/>
            <a:ext cx="1609097"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19050">
              <a:solidFill>
                <a:srgbClr val="0070C0"/>
              </a:solid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19050">
              <a:solidFill>
                <a:srgbClr val="0070C0"/>
              </a:solid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19050">
              <a:solidFill>
                <a:srgbClr val="0070C0"/>
              </a:solid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19050">
              <a:solidFill>
                <a:srgbClr val="0070C0"/>
              </a:solid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19050">
              <a:solidFill>
                <a:srgbClr val="0070C0"/>
              </a:solid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19050">
              <a:solidFill>
                <a:srgbClr val="0070C0"/>
              </a:solid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19050">
              <a:solidFill>
                <a:srgbClr val="0070C0"/>
              </a:solid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19050">
              <a:solidFill>
                <a:srgbClr val="0070C0"/>
              </a:solidFill>
            </a:ln>
          </p:spPr>
          <p:txBody>
            <a:bodyPr/>
            <a:lstStyle/>
            <a:p>
              <a:endParaRPr lang="en-US" sz="2200" dirty="0"/>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19050">
              <a:solidFill>
                <a:srgbClr val="0070C0"/>
              </a:solid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19050">
              <a:solidFill>
                <a:srgbClr val="0070C0"/>
              </a:solid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19050">
              <a:solidFill>
                <a:srgbClr val="0070C0"/>
              </a:solid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19050">
              <a:solidFill>
                <a:srgbClr val="0070C0"/>
              </a:solid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625601" y="166910"/>
            <a:ext cx="8792639" cy="10522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4515" y="1828800"/>
            <a:ext cx="9121884" cy="42432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216917" y="6187971"/>
            <a:ext cx="1349481" cy="365126"/>
          </a:xfrm>
          <a:prstGeom prst="rect">
            <a:avLst/>
          </a:prstGeom>
        </p:spPr>
        <p:txBody>
          <a:bodyPr vert="horz" lIns="91440" tIns="45720" rIns="91440" bIns="45720" rtlCol="0" anchor="ctr"/>
          <a:lstStyle>
            <a:lvl1pPr algn="r">
              <a:defRPr sz="506">
                <a:solidFill>
                  <a:schemeClr val="tx1">
                    <a:tint val="75000"/>
                  </a:schemeClr>
                </a:solidFill>
              </a:defRPr>
            </a:lvl1pPr>
          </a:lstStyle>
          <a:p>
            <a:fld id="{237B5743-DBAF-4747-BC95-E84DEE4EE061}" type="datetime1">
              <a:rPr lang="en-US" smtClean="0"/>
              <a:t>8/19/2025</a:t>
            </a:fld>
            <a:endParaRPr lang="en-US"/>
          </a:p>
        </p:txBody>
      </p:sp>
      <p:sp>
        <p:nvSpPr>
          <p:cNvPr id="5" name="Footer Placeholder 4"/>
          <p:cNvSpPr>
            <a:spLocks noGrp="1"/>
          </p:cNvSpPr>
          <p:nvPr>
            <p:ph type="ftr" sz="quarter" idx="3"/>
          </p:nvPr>
        </p:nvSpPr>
        <p:spPr>
          <a:xfrm>
            <a:off x="1444519" y="6188076"/>
            <a:ext cx="7619999" cy="365125"/>
          </a:xfrm>
          <a:prstGeom prst="rect">
            <a:avLst/>
          </a:prstGeom>
        </p:spPr>
        <p:txBody>
          <a:bodyPr vert="horz" lIns="91440" tIns="45720" rIns="91440" bIns="45720" rtlCol="0" anchor="ctr"/>
          <a:lstStyle>
            <a:lvl1pPr algn="l">
              <a:defRPr sz="506">
                <a:solidFill>
                  <a:schemeClr val="tx1">
                    <a:tint val="75000"/>
                  </a:schemeClr>
                </a:solidFill>
              </a:defRPr>
            </a:lvl1pPr>
          </a:lstStyle>
          <a:p>
            <a:endParaRPr lang="en-US"/>
          </a:p>
        </p:txBody>
      </p:sp>
      <p:graphicFrame>
        <p:nvGraphicFramePr>
          <p:cNvPr id="36" name="Table 35">
            <a:extLst>
              <a:ext uri="{FF2B5EF4-FFF2-40B4-BE49-F238E27FC236}">
                <a16:creationId xmlns:a16="http://schemas.microsoft.com/office/drawing/2014/main" id="{DEE40834-A5DE-47B3-A638-FCCD054A6445}"/>
              </a:ext>
            </a:extLst>
          </p:cNvPr>
          <p:cNvGraphicFramePr>
            <a:graphicFrameLocks noGrp="1"/>
          </p:cNvGraphicFramePr>
          <p:nvPr>
            <p:extLst>
              <p:ext uri="{D42A27DB-BD31-4B8C-83A1-F6EECF244321}">
                <p14:modId xmlns:p14="http://schemas.microsoft.com/office/powerpoint/2010/main" val="3518093345"/>
              </p:ext>
            </p:extLst>
          </p:nvPr>
        </p:nvGraphicFramePr>
        <p:xfrm>
          <a:off x="1245797" y="8406"/>
          <a:ext cx="10929699" cy="1306287"/>
        </p:xfrm>
        <a:graphic>
          <a:graphicData uri="http://schemas.openxmlformats.org/drawingml/2006/table">
            <a:tbl>
              <a:tblPr firstRow="1" firstCol="1" bandRow="1">
                <a:tableStyleId>{5C22544A-7EE6-4342-B048-85BDC9FD1C3A}</a:tableStyleId>
              </a:tblPr>
              <a:tblGrid>
                <a:gridCol w="10929699">
                  <a:extLst>
                    <a:ext uri="{9D8B030D-6E8A-4147-A177-3AD203B41FA5}">
                      <a16:colId xmlns:a16="http://schemas.microsoft.com/office/drawing/2014/main" val="20000"/>
                    </a:ext>
                  </a:extLst>
                </a:gridCol>
              </a:tblGrid>
              <a:tr h="1306287">
                <a:tc>
                  <a:txBody>
                    <a:bodyPr/>
                    <a:lstStyle/>
                    <a:p>
                      <a:pPr marL="0" marR="0" algn="ctr">
                        <a:spcBef>
                          <a:spcPts val="1200"/>
                        </a:spcBef>
                        <a:spcAft>
                          <a:spcPts val="0"/>
                        </a:spcAft>
                      </a:pP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bl>
          </a:graphicData>
        </a:graphic>
      </p:graphicFrame>
      <p:pic>
        <p:nvPicPr>
          <p:cNvPr id="37" name="Picture 36" descr="kabale university new logo2">
            <a:extLst>
              <a:ext uri="{FF2B5EF4-FFF2-40B4-BE49-F238E27FC236}">
                <a16:creationId xmlns:a16="http://schemas.microsoft.com/office/drawing/2014/main" id="{5549180C-C395-40BE-9C35-6433D3E0B191}"/>
              </a:ext>
            </a:extLst>
          </p:cNvPr>
          <p:cNvPicPr/>
          <p:nvPr/>
        </p:nvPicPr>
        <p:blipFill>
          <a:blip r:embed="rId20"/>
          <a:srcRect/>
          <a:stretch>
            <a:fillRect/>
          </a:stretch>
        </p:blipFill>
        <p:spPr bwMode="auto">
          <a:xfrm>
            <a:off x="10615448" y="0"/>
            <a:ext cx="1560051" cy="1289482"/>
          </a:xfrm>
          <a:prstGeom prst="rect">
            <a:avLst/>
          </a:prstGeom>
          <a:noFill/>
          <a:ln w="9525">
            <a:noFill/>
            <a:miter lim="800000"/>
            <a:headEnd/>
            <a:tailEnd/>
          </a:ln>
        </p:spPr>
      </p:pic>
    </p:spTree>
    <p:extLst>
      <p:ext uri="{BB962C8B-B14F-4D97-AF65-F5344CB8AC3E}">
        <p14:creationId xmlns:p14="http://schemas.microsoft.com/office/powerpoint/2010/main" val="2834746748"/>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Lst>
  <p:hf hdr="0" ftr="0"/>
  <p:txStyles>
    <p:titleStyle>
      <a:lvl1pPr algn="l" defTabSz="257175" rtl="0" eaLnBrk="1" latinLnBrk="0" hangingPunct="1">
        <a:spcBef>
          <a:spcPct val="0"/>
        </a:spcBef>
        <a:buNone/>
        <a:defRPr sz="2025"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92881" indent="-192881" algn="l" defTabSz="257175" rtl="0" eaLnBrk="1" latinLnBrk="0" hangingPunct="1">
        <a:spcBef>
          <a:spcPts val="563"/>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417910" indent="-160735" algn="l" defTabSz="257175" rtl="0" eaLnBrk="1" latinLnBrk="0" hangingPunct="1">
        <a:spcBef>
          <a:spcPts val="563"/>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642938" indent="-128588" algn="l" defTabSz="257175" rtl="0" eaLnBrk="1" latinLnBrk="0" hangingPunct="1">
        <a:spcBef>
          <a:spcPts val="563"/>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3pPr>
      <a:lvl4pPr marL="900113" indent="-128588" algn="l" defTabSz="257175" rtl="0" eaLnBrk="1" latinLnBrk="0" hangingPunct="1">
        <a:spcBef>
          <a:spcPts val="563"/>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1157288" indent="-128588" algn="l" defTabSz="257175" rtl="0" eaLnBrk="1" latinLnBrk="0" hangingPunct="1">
        <a:spcBef>
          <a:spcPts val="563"/>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1414463" indent="-128588" algn="l" defTabSz="257175" rtl="0" eaLnBrk="1" latinLnBrk="0" hangingPunct="1">
        <a:spcBef>
          <a:spcPts val="563"/>
        </a:spcBef>
        <a:spcAft>
          <a:spcPts val="0"/>
        </a:spcAft>
        <a:buClr>
          <a:schemeClr val="accent1"/>
        </a:buClr>
        <a:buFont typeface="Wingdings 3" charset="2"/>
        <a:buChar char=""/>
        <a:defRPr sz="675" kern="1200">
          <a:solidFill>
            <a:schemeClr val="tx1">
              <a:lumMod val="75000"/>
              <a:lumOff val="25000"/>
            </a:schemeClr>
          </a:solidFill>
          <a:latin typeface="+mn-lt"/>
          <a:ea typeface="+mn-ea"/>
          <a:cs typeface="+mn-cs"/>
        </a:defRPr>
      </a:lvl6pPr>
      <a:lvl7pPr marL="1671638" indent="-128588" algn="l" defTabSz="257175" rtl="0" eaLnBrk="1" latinLnBrk="0" hangingPunct="1">
        <a:spcBef>
          <a:spcPts val="563"/>
        </a:spcBef>
        <a:spcAft>
          <a:spcPts val="0"/>
        </a:spcAft>
        <a:buClr>
          <a:schemeClr val="accent1"/>
        </a:buClr>
        <a:buFont typeface="Wingdings 3" charset="2"/>
        <a:buChar char=""/>
        <a:defRPr sz="675" kern="1200">
          <a:solidFill>
            <a:schemeClr val="tx1">
              <a:lumMod val="75000"/>
              <a:lumOff val="25000"/>
            </a:schemeClr>
          </a:solidFill>
          <a:latin typeface="+mn-lt"/>
          <a:ea typeface="+mn-ea"/>
          <a:cs typeface="+mn-cs"/>
        </a:defRPr>
      </a:lvl7pPr>
      <a:lvl8pPr marL="1928813" indent="-128588" algn="l" defTabSz="257175" rtl="0" eaLnBrk="1" latinLnBrk="0" hangingPunct="1">
        <a:spcBef>
          <a:spcPts val="563"/>
        </a:spcBef>
        <a:spcAft>
          <a:spcPts val="0"/>
        </a:spcAft>
        <a:buClr>
          <a:schemeClr val="accent1"/>
        </a:buClr>
        <a:buFont typeface="Wingdings 3" charset="2"/>
        <a:buChar char=""/>
        <a:defRPr sz="675" kern="1200">
          <a:solidFill>
            <a:schemeClr val="tx1">
              <a:lumMod val="75000"/>
              <a:lumOff val="25000"/>
            </a:schemeClr>
          </a:solidFill>
          <a:latin typeface="+mn-lt"/>
          <a:ea typeface="+mn-ea"/>
          <a:cs typeface="+mn-cs"/>
        </a:defRPr>
      </a:lvl8pPr>
      <a:lvl9pPr marL="2185988" indent="-128588" algn="l" defTabSz="257175" rtl="0" eaLnBrk="1" latinLnBrk="0" hangingPunct="1">
        <a:spcBef>
          <a:spcPts val="563"/>
        </a:spcBef>
        <a:spcAft>
          <a:spcPts val="0"/>
        </a:spcAft>
        <a:buClr>
          <a:schemeClr val="accent1"/>
        </a:buClr>
        <a:buFont typeface="Wingdings 3" charset="2"/>
        <a:buChar char=""/>
        <a:defRPr sz="675" kern="1200">
          <a:solidFill>
            <a:schemeClr val="tx1">
              <a:lumMod val="75000"/>
              <a:lumOff val="25000"/>
            </a:schemeClr>
          </a:solidFill>
          <a:latin typeface="+mn-lt"/>
          <a:ea typeface="+mn-ea"/>
          <a:cs typeface="+mn-cs"/>
        </a:defRPr>
      </a:lvl9pPr>
    </p:bodyStyle>
    <p:otherStyle>
      <a:defPPr>
        <a:defRPr lang="en-US"/>
      </a:defPPr>
      <a:lvl1pPr marL="0" algn="l" defTabSz="257175" rtl="0" eaLnBrk="1" latinLnBrk="0" hangingPunct="1">
        <a:defRPr sz="1013" kern="1200">
          <a:solidFill>
            <a:schemeClr val="tx1"/>
          </a:solidFill>
          <a:latin typeface="+mn-lt"/>
          <a:ea typeface="+mn-ea"/>
          <a:cs typeface="+mn-cs"/>
        </a:defRPr>
      </a:lvl1pPr>
      <a:lvl2pPr marL="257175" algn="l" defTabSz="257175" rtl="0" eaLnBrk="1" latinLnBrk="0" hangingPunct="1">
        <a:defRPr sz="1013" kern="1200">
          <a:solidFill>
            <a:schemeClr val="tx1"/>
          </a:solidFill>
          <a:latin typeface="+mn-lt"/>
          <a:ea typeface="+mn-ea"/>
          <a:cs typeface="+mn-cs"/>
        </a:defRPr>
      </a:lvl2pPr>
      <a:lvl3pPr marL="514350" algn="l" defTabSz="257175" rtl="0" eaLnBrk="1" latinLnBrk="0" hangingPunct="1">
        <a:defRPr sz="1013" kern="1200">
          <a:solidFill>
            <a:schemeClr val="tx1"/>
          </a:solidFill>
          <a:latin typeface="+mn-lt"/>
          <a:ea typeface="+mn-ea"/>
          <a:cs typeface="+mn-cs"/>
        </a:defRPr>
      </a:lvl3pPr>
      <a:lvl4pPr marL="771525" algn="l" defTabSz="257175" rtl="0" eaLnBrk="1" latinLnBrk="0" hangingPunct="1">
        <a:defRPr sz="1013" kern="1200">
          <a:solidFill>
            <a:schemeClr val="tx1"/>
          </a:solidFill>
          <a:latin typeface="+mn-lt"/>
          <a:ea typeface="+mn-ea"/>
          <a:cs typeface="+mn-cs"/>
        </a:defRPr>
      </a:lvl4pPr>
      <a:lvl5pPr marL="1028700" algn="l" defTabSz="257175" rtl="0" eaLnBrk="1" latinLnBrk="0" hangingPunct="1">
        <a:defRPr sz="1013" kern="1200">
          <a:solidFill>
            <a:schemeClr val="tx1"/>
          </a:solidFill>
          <a:latin typeface="+mn-lt"/>
          <a:ea typeface="+mn-ea"/>
          <a:cs typeface="+mn-cs"/>
        </a:defRPr>
      </a:lvl5pPr>
      <a:lvl6pPr marL="1285875" algn="l" defTabSz="257175" rtl="0" eaLnBrk="1" latinLnBrk="0" hangingPunct="1">
        <a:defRPr sz="1013" kern="1200">
          <a:solidFill>
            <a:schemeClr val="tx1"/>
          </a:solidFill>
          <a:latin typeface="+mn-lt"/>
          <a:ea typeface="+mn-ea"/>
          <a:cs typeface="+mn-cs"/>
        </a:defRPr>
      </a:lvl6pPr>
      <a:lvl7pPr marL="1543050" algn="l" defTabSz="257175" rtl="0" eaLnBrk="1" latinLnBrk="0" hangingPunct="1">
        <a:defRPr sz="1013" kern="1200">
          <a:solidFill>
            <a:schemeClr val="tx1"/>
          </a:solidFill>
          <a:latin typeface="+mn-lt"/>
          <a:ea typeface="+mn-ea"/>
          <a:cs typeface="+mn-cs"/>
        </a:defRPr>
      </a:lvl7pPr>
      <a:lvl8pPr marL="1800225" algn="l" defTabSz="257175" rtl="0" eaLnBrk="1" latinLnBrk="0" hangingPunct="1">
        <a:defRPr sz="1013" kern="1200">
          <a:solidFill>
            <a:schemeClr val="tx1"/>
          </a:solidFill>
          <a:latin typeface="+mn-lt"/>
          <a:ea typeface="+mn-ea"/>
          <a:cs typeface="+mn-cs"/>
        </a:defRPr>
      </a:lvl8pPr>
      <a:lvl9pPr marL="2057400" algn="l" defTabSz="257175"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313993" y="1619385"/>
            <a:ext cx="7600109" cy="2766003"/>
          </a:xfrm>
        </p:spPr>
        <p:txBody>
          <a:bodyPr>
            <a:normAutofit/>
          </a:bodyPr>
          <a:lstStyle/>
          <a:p>
            <a:r>
              <a:rPr lang="en-US" sz="4800" dirty="0"/>
              <a:t>Research methodology</a:t>
            </a:r>
            <a:br>
              <a:rPr lang="en-US" dirty="0"/>
            </a:br>
            <a:br>
              <a:rPr lang="en-US" dirty="0"/>
            </a:br>
            <a:endParaRPr lang="en-US" sz="3600" dirty="0"/>
          </a:p>
        </p:txBody>
      </p:sp>
      <p:sp>
        <p:nvSpPr>
          <p:cNvPr id="3075" name="Rectangle 3"/>
          <p:cNvSpPr>
            <a:spLocks noGrp="1" noChangeArrowheads="1"/>
          </p:cNvSpPr>
          <p:nvPr>
            <p:ph type="subTitle" idx="1"/>
          </p:nvPr>
        </p:nvSpPr>
        <p:spPr>
          <a:xfrm>
            <a:off x="2313993" y="4385388"/>
            <a:ext cx="8781864" cy="1512096"/>
          </a:xfrm>
        </p:spPr>
        <p:txBody>
          <a:bodyPr>
            <a:normAutofit/>
          </a:bodyPr>
          <a:lstStyle/>
          <a:p>
            <a:r>
              <a:rPr lang="en-US" b="1" dirty="0"/>
              <a:t>Miss </a:t>
            </a:r>
            <a:r>
              <a:rPr lang="en-US" b="1" dirty="0" err="1"/>
              <a:t>Muhoza</a:t>
            </a:r>
            <a:r>
              <a:rPr lang="en-US" b="1" dirty="0"/>
              <a:t> B Gloria(</a:t>
            </a:r>
            <a:r>
              <a:rPr lang="en-US" b="1" dirty="0" err="1"/>
              <a:t>MScIS</a:t>
            </a:r>
            <a:r>
              <a:rPr lang="en-US" b="1" dirty="0"/>
              <a:t>, BIT, HCIA)</a:t>
            </a:r>
          </a:p>
          <a:p>
            <a:r>
              <a:rPr lang="en-US" b="1" dirty="0"/>
              <a:t>gmuhoza@kab.ac.ug</a:t>
            </a:r>
          </a:p>
          <a:p>
            <a:r>
              <a:rPr lang="en-US" b="1"/>
              <a:t>+256-750015090</a:t>
            </a:r>
            <a:endParaRPr lang="en-US" b="1" dirty="0"/>
          </a:p>
          <a:p>
            <a:pPr eaLnBrk="1" hangingPunct="1"/>
            <a:endParaRPr lang="en-US" dirty="0"/>
          </a:p>
        </p:txBody>
      </p:sp>
    </p:spTree>
    <p:extLst>
      <p:ext uri="{BB962C8B-B14F-4D97-AF65-F5344CB8AC3E}">
        <p14:creationId xmlns:p14="http://schemas.microsoft.com/office/powerpoint/2010/main" val="2651073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772" y="304801"/>
            <a:ext cx="8826810" cy="726558"/>
          </a:xfrm>
        </p:spPr>
        <p:txBody>
          <a:bodyPr/>
          <a:lstStyle/>
          <a:p>
            <a:r>
              <a:rPr lang="en-US" b="1" dirty="0"/>
              <a:t>Course Objectives </a:t>
            </a:r>
            <a:endParaRPr lang="en-US" dirty="0"/>
          </a:p>
        </p:txBody>
      </p:sp>
      <p:sp>
        <p:nvSpPr>
          <p:cNvPr id="3" name="Content Placeholder 2"/>
          <p:cNvSpPr>
            <a:spLocks noGrp="1"/>
          </p:cNvSpPr>
          <p:nvPr>
            <p:ph idx="1"/>
          </p:nvPr>
        </p:nvSpPr>
        <p:spPr>
          <a:xfrm>
            <a:off x="1935126" y="1924493"/>
            <a:ext cx="7432159" cy="3572539"/>
          </a:xfrm>
        </p:spPr>
        <p:txBody>
          <a:bodyPr>
            <a:normAutofit/>
          </a:bodyPr>
          <a:lstStyle/>
          <a:p>
            <a:pPr marL="0" indent="0">
              <a:buNone/>
            </a:pPr>
            <a:r>
              <a:rPr lang="en-US" sz="1800" b="1" dirty="0"/>
              <a:t>Students who successfully complete this course will be able to:</a:t>
            </a:r>
          </a:p>
          <a:p>
            <a:pPr lvl="0"/>
            <a:endParaRPr lang="en-US" sz="1800" dirty="0"/>
          </a:p>
          <a:p>
            <a:r>
              <a:rPr lang="en-US" sz="1800" dirty="0"/>
              <a:t>To understand the concept of research.</a:t>
            </a:r>
          </a:p>
          <a:p>
            <a:r>
              <a:rPr lang="en-US" sz="1800" dirty="0"/>
              <a:t>To highlight the importance of research in business.</a:t>
            </a:r>
          </a:p>
          <a:p>
            <a:r>
              <a:rPr lang="en-US" sz="1800" dirty="0"/>
              <a:t>To format of a research proposal.</a:t>
            </a:r>
          </a:p>
          <a:p>
            <a:r>
              <a:rPr lang="en-US" sz="1800" dirty="0"/>
              <a:t>To develop skills in problem identification and setting objectives.</a:t>
            </a:r>
          </a:p>
          <a:p>
            <a:r>
              <a:rPr lang="en-US" sz="1800" dirty="0"/>
              <a:t>To gain skills and knowledge of report writing.</a:t>
            </a:r>
          </a:p>
          <a:p>
            <a:pPr marL="0" indent="0">
              <a:buNone/>
            </a:pPr>
            <a:endParaRPr lang="en-US" sz="1800" dirty="0"/>
          </a:p>
        </p:txBody>
      </p:sp>
      <p:sp>
        <p:nvSpPr>
          <p:cNvPr id="4" name="Slide Number Placeholder 3"/>
          <p:cNvSpPr>
            <a:spLocks noGrp="1"/>
          </p:cNvSpPr>
          <p:nvPr>
            <p:ph type="sldNum" sz="quarter" idx="12"/>
          </p:nvPr>
        </p:nvSpPr>
        <p:spPr/>
        <p:txBody>
          <a:bodyPr/>
          <a:lstStyle/>
          <a:p>
            <a:pPr>
              <a:defRPr/>
            </a:pPr>
            <a:fld id="{01D190DC-10E6-4466-B542-604248D040F6}" type="slidenum">
              <a:rPr lang="en-US" smtClean="0"/>
              <a:pPr>
                <a:defRPr/>
              </a:pPr>
              <a:t>2</a:t>
            </a:fld>
            <a:endParaRPr lang="en-US"/>
          </a:p>
        </p:txBody>
      </p:sp>
    </p:spTree>
    <p:extLst>
      <p:ext uri="{BB962C8B-B14F-4D97-AF65-F5344CB8AC3E}">
        <p14:creationId xmlns:p14="http://schemas.microsoft.com/office/powerpoint/2010/main" val="696297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771" y="304800"/>
            <a:ext cx="7954941" cy="761999"/>
          </a:xfrm>
        </p:spPr>
        <p:txBody>
          <a:bodyPr/>
          <a:lstStyle/>
          <a:p>
            <a:r>
              <a:rPr lang="en-GB" b="1" dirty="0"/>
              <a:t>Overview</a:t>
            </a:r>
          </a:p>
        </p:txBody>
      </p:sp>
      <p:sp>
        <p:nvSpPr>
          <p:cNvPr id="3" name="Content Placeholder 2"/>
          <p:cNvSpPr>
            <a:spLocks noGrp="1"/>
          </p:cNvSpPr>
          <p:nvPr>
            <p:ph idx="1"/>
          </p:nvPr>
        </p:nvSpPr>
        <p:spPr>
          <a:xfrm>
            <a:off x="1827120" y="1669313"/>
            <a:ext cx="7880406" cy="3955310"/>
          </a:xfrm>
        </p:spPr>
        <p:txBody>
          <a:bodyPr>
            <a:normAutofit/>
          </a:bodyPr>
          <a:lstStyle/>
          <a:p>
            <a:pPr algn="just"/>
            <a:r>
              <a:rPr lang="en-US" sz="2800" b="1" dirty="0"/>
              <a:t>Overview of research.</a:t>
            </a:r>
          </a:p>
          <a:p>
            <a:pPr algn="just"/>
            <a:r>
              <a:rPr lang="en-US" sz="2800" b="1" dirty="0"/>
              <a:t>Types of research. </a:t>
            </a:r>
          </a:p>
          <a:p>
            <a:pPr algn="just"/>
            <a:r>
              <a:rPr lang="en-US" sz="2800" b="1" dirty="0"/>
              <a:t>Key terms used in research.</a:t>
            </a:r>
          </a:p>
          <a:p>
            <a:pPr algn="just"/>
            <a:r>
              <a:rPr lang="en-US" sz="2800" b="1" dirty="0"/>
              <a:t>Research approaches.</a:t>
            </a:r>
          </a:p>
          <a:p>
            <a:pPr algn="just"/>
            <a:r>
              <a:rPr lang="en-US" sz="2800" b="1" dirty="0"/>
              <a:t>Significance of research.</a:t>
            </a:r>
          </a:p>
          <a:p>
            <a:pPr algn="just"/>
            <a:r>
              <a:rPr lang="en-US" sz="2800" b="1" dirty="0"/>
              <a:t>Research process.</a:t>
            </a:r>
          </a:p>
          <a:p>
            <a:pPr algn="just"/>
            <a:r>
              <a:rPr lang="en-US" sz="2800" b="1" dirty="0"/>
              <a:t>Criteria of good research</a:t>
            </a:r>
            <a:endParaRPr lang="en-GB" sz="2800" b="1" dirty="0"/>
          </a:p>
        </p:txBody>
      </p:sp>
      <p:sp>
        <p:nvSpPr>
          <p:cNvPr id="4" name="Date Placeholder 3"/>
          <p:cNvSpPr>
            <a:spLocks noGrp="1"/>
          </p:cNvSpPr>
          <p:nvPr>
            <p:ph type="dt" sz="half" idx="10"/>
          </p:nvPr>
        </p:nvSpPr>
        <p:spPr/>
        <p:txBody>
          <a:bodyPr/>
          <a:lstStyle/>
          <a:p>
            <a:fld id="{80777866-FEB5-4540-968F-3DD936764BC7}"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3</a:t>
            </a:fld>
            <a:endParaRPr lang="en-US"/>
          </a:p>
        </p:txBody>
      </p:sp>
    </p:spTree>
    <p:extLst>
      <p:ext uri="{BB962C8B-B14F-4D97-AF65-F5344CB8AC3E}">
        <p14:creationId xmlns:p14="http://schemas.microsoft.com/office/powerpoint/2010/main" val="4244101351"/>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44521" y="349177"/>
            <a:ext cx="8635424" cy="641498"/>
          </a:xfrm>
        </p:spPr>
        <p:txBody>
          <a:bodyPr/>
          <a:lstStyle/>
          <a:p>
            <a:r>
              <a:rPr lang="en-US" b="1" dirty="0"/>
              <a:t>Overview of research.</a:t>
            </a:r>
          </a:p>
        </p:txBody>
      </p:sp>
      <p:sp>
        <p:nvSpPr>
          <p:cNvPr id="3" name="Content Placeholder 2"/>
          <p:cNvSpPr>
            <a:spLocks noGrp="1"/>
          </p:cNvSpPr>
          <p:nvPr>
            <p:ph idx="1"/>
          </p:nvPr>
        </p:nvSpPr>
        <p:spPr>
          <a:xfrm>
            <a:off x="1594884" y="1850064"/>
            <a:ext cx="8635424" cy="4061637"/>
          </a:xfrm>
          <a:scene3d>
            <a:camera prst="orthographicFront"/>
            <a:lightRig rig="threePt" dir="t"/>
          </a:scene3d>
          <a:sp3d prstMaterial="dkEdge"/>
        </p:spPr>
        <p:txBody>
          <a:bodyPr>
            <a:normAutofit fontScale="77500" lnSpcReduction="20000"/>
          </a:bodyPr>
          <a:lstStyle/>
          <a:p>
            <a:pPr algn="just">
              <a:lnSpc>
                <a:spcPct val="120000"/>
              </a:lnSpc>
            </a:pPr>
            <a:r>
              <a:rPr lang="en-GB" sz="3500" dirty="0"/>
              <a:t>Research: involves “</a:t>
            </a:r>
            <a:r>
              <a:rPr lang="en-GB" sz="3500" b="1" dirty="0">
                <a:solidFill>
                  <a:schemeClr val="tx2"/>
                </a:solidFill>
              </a:rPr>
              <a:t>systematic investigation</a:t>
            </a:r>
            <a:r>
              <a:rPr lang="en-GB" sz="3500" dirty="0"/>
              <a:t>”.</a:t>
            </a:r>
          </a:p>
          <a:p>
            <a:pPr algn="just">
              <a:lnSpc>
                <a:spcPct val="120000"/>
              </a:lnSpc>
            </a:pPr>
            <a:r>
              <a:rPr lang="en-GB" sz="3500" dirty="0"/>
              <a:t>Search again </a:t>
            </a:r>
          </a:p>
          <a:p>
            <a:pPr algn="just">
              <a:lnSpc>
                <a:spcPct val="120000"/>
              </a:lnSpc>
            </a:pPr>
            <a:r>
              <a:rPr lang="en-GB" sz="3500" dirty="0"/>
              <a:t>According to the Advanced Learners Dictionary, Research is defined as </a:t>
            </a:r>
            <a:r>
              <a:rPr lang="en-GB" sz="3500" b="1" i="1" dirty="0">
                <a:solidFill>
                  <a:schemeClr val="tx2"/>
                </a:solidFill>
              </a:rPr>
              <a:t>“a careful investigation or inquiry specially through search for new facts in any branch of knowledge.”</a:t>
            </a:r>
          </a:p>
          <a:p>
            <a:pPr algn="just">
              <a:lnSpc>
                <a:spcPct val="120000"/>
              </a:lnSpc>
            </a:pPr>
            <a:r>
              <a:rPr lang="en-GB" sz="3500" dirty="0"/>
              <a:t>Oxford Learners Dictionaries defines research as </a:t>
            </a:r>
            <a:r>
              <a:rPr lang="en-GB" sz="3500" b="1" dirty="0">
                <a:solidFill>
                  <a:schemeClr val="tx2"/>
                </a:solidFill>
              </a:rPr>
              <a:t>“a  careful study of  a subject, especially in order to discover new facts or information about it”.</a:t>
            </a:r>
          </a:p>
        </p:txBody>
      </p:sp>
      <p:sp>
        <p:nvSpPr>
          <p:cNvPr id="4" name="Date Placeholder 3"/>
          <p:cNvSpPr>
            <a:spLocks noGrp="1"/>
          </p:cNvSpPr>
          <p:nvPr>
            <p:ph type="dt" sz="half" idx="10"/>
          </p:nvPr>
        </p:nvSpPr>
        <p:spPr/>
        <p:txBody>
          <a:bodyPr/>
          <a:lstStyle/>
          <a:p>
            <a:fld id="{536FD267-E4EF-4E1A-8FC4-4F308F1E3B1C}"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4</a:t>
            </a:fld>
            <a:endParaRPr lang="en-US"/>
          </a:p>
        </p:txBody>
      </p:sp>
    </p:spTree>
    <p:extLst>
      <p:ext uri="{BB962C8B-B14F-4D97-AF65-F5344CB8AC3E}">
        <p14:creationId xmlns:p14="http://schemas.microsoft.com/office/powerpoint/2010/main" val="608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4880" y="304904"/>
            <a:ext cx="7002037" cy="630762"/>
          </a:xfrm>
        </p:spPr>
        <p:txBody>
          <a:bodyPr>
            <a:normAutofit fontScale="90000"/>
          </a:bodyPr>
          <a:lstStyle/>
          <a:p>
            <a:r>
              <a:rPr lang="en-US" b="1" dirty="0"/>
              <a:t>Overview of research  </a:t>
            </a:r>
            <a:r>
              <a:rPr lang="en-US" b="1" dirty="0" err="1"/>
              <a:t>cont</a:t>
            </a:r>
            <a:r>
              <a:rPr lang="en-US" b="1" dirty="0"/>
              <a:t>’</a:t>
            </a:r>
            <a:br>
              <a:rPr lang="en-US" b="1" dirty="0"/>
            </a:br>
            <a:endParaRPr lang="en-GB" dirty="0"/>
          </a:p>
        </p:txBody>
      </p:sp>
      <p:sp>
        <p:nvSpPr>
          <p:cNvPr id="3" name="Content Placeholder 2"/>
          <p:cNvSpPr>
            <a:spLocks noGrp="1"/>
          </p:cNvSpPr>
          <p:nvPr>
            <p:ph idx="1"/>
          </p:nvPr>
        </p:nvSpPr>
        <p:spPr>
          <a:xfrm>
            <a:off x="1998922" y="1711842"/>
            <a:ext cx="8240232" cy="4418594"/>
          </a:xfrm>
        </p:spPr>
        <p:txBody>
          <a:bodyPr>
            <a:normAutofit fontScale="70000" lnSpcReduction="20000"/>
          </a:bodyPr>
          <a:lstStyle/>
          <a:p>
            <a:pPr>
              <a:lnSpc>
                <a:spcPct val="120000"/>
              </a:lnSpc>
            </a:pPr>
            <a:r>
              <a:rPr lang="en-GB" sz="3500" dirty="0"/>
              <a:t>Redman and Mory define research as  </a:t>
            </a:r>
          </a:p>
          <a:p>
            <a:pPr marL="0" indent="0">
              <a:lnSpc>
                <a:spcPct val="120000"/>
              </a:lnSpc>
              <a:buNone/>
            </a:pPr>
            <a:r>
              <a:rPr lang="en-GB" sz="3500" b="1" i="1" dirty="0">
                <a:solidFill>
                  <a:schemeClr val="tx2"/>
                </a:solidFill>
              </a:rPr>
              <a:t>“a systematized effort to gain new knowledge”.</a:t>
            </a:r>
          </a:p>
          <a:p>
            <a:pPr>
              <a:lnSpc>
                <a:spcPct val="120000"/>
              </a:lnSpc>
            </a:pPr>
            <a:r>
              <a:rPr lang="en-GB" sz="3500" dirty="0"/>
              <a:t>It may be a movement from the known to unknown.</a:t>
            </a:r>
          </a:p>
          <a:p>
            <a:pPr>
              <a:lnSpc>
                <a:spcPct val="120000"/>
              </a:lnSpc>
            </a:pPr>
            <a:r>
              <a:rPr lang="en-GB" sz="3500" dirty="0"/>
              <a:t>It involves inquisitiveness, curiosity into the unknown.</a:t>
            </a:r>
          </a:p>
          <a:p>
            <a:pPr>
              <a:lnSpc>
                <a:spcPct val="120000"/>
              </a:lnSpc>
            </a:pPr>
            <a:r>
              <a:rPr lang="en-GB" sz="3500" dirty="0"/>
              <a:t>Research is the contributor to the existing stock of knowledge.</a:t>
            </a:r>
          </a:p>
          <a:p>
            <a:pPr>
              <a:lnSpc>
                <a:spcPct val="120000"/>
              </a:lnSpc>
            </a:pPr>
            <a:r>
              <a:rPr lang="en-GB" sz="3500" dirty="0"/>
              <a:t>A research mind is an inquiring mind, always searching for the unknown, explanations, interventions, causes, outcomes, etc.</a:t>
            </a:r>
          </a:p>
        </p:txBody>
      </p:sp>
      <p:sp>
        <p:nvSpPr>
          <p:cNvPr id="4" name="Date Placeholder 3"/>
          <p:cNvSpPr>
            <a:spLocks noGrp="1"/>
          </p:cNvSpPr>
          <p:nvPr>
            <p:ph type="dt" sz="half" idx="10"/>
          </p:nvPr>
        </p:nvSpPr>
        <p:spPr/>
        <p:txBody>
          <a:bodyPr/>
          <a:lstStyle/>
          <a:p>
            <a:fld id="{4A409530-9C7F-47DC-848A-4565FAC8C25C}"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5</a:t>
            </a:fld>
            <a:endParaRPr lang="en-US"/>
          </a:p>
        </p:txBody>
      </p:sp>
    </p:spTree>
    <p:extLst>
      <p:ext uri="{BB962C8B-B14F-4D97-AF65-F5344CB8AC3E}">
        <p14:creationId xmlns:p14="http://schemas.microsoft.com/office/powerpoint/2010/main" val="23780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4521" y="375890"/>
            <a:ext cx="8539731" cy="588335"/>
          </a:xfrm>
        </p:spPr>
        <p:txBody>
          <a:bodyPr/>
          <a:lstStyle/>
          <a:p>
            <a:r>
              <a:rPr lang="en-US" b="1" dirty="0"/>
              <a:t>Overview of research </a:t>
            </a:r>
            <a:r>
              <a:rPr lang="en-GB" b="1" dirty="0" err="1"/>
              <a:t>Cont</a:t>
            </a:r>
            <a:r>
              <a:rPr lang="en-GB" b="1" dirty="0"/>
              <a:t>’</a:t>
            </a:r>
          </a:p>
        </p:txBody>
      </p:sp>
      <p:sp>
        <p:nvSpPr>
          <p:cNvPr id="3" name="Content Placeholder 2"/>
          <p:cNvSpPr>
            <a:spLocks noGrp="1"/>
          </p:cNvSpPr>
          <p:nvPr>
            <p:ph idx="1"/>
          </p:nvPr>
        </p:nvSpPr>
        <p:spPr>
          <a:xfrm>
            <a:off x="1701209" y="1627706"/>
            <a:ext cx="8697249" cy="4177671"/>
          </a:xfrm>
        </p:spPr>
        <p:txBody>
          <a:bodyPr>
            <a:normAutofit/>
          </a:bodyPr>
          <a:lstStyle/>
          <a:p>
            <a:pPr>
              <a:lnSpc>
                <a:spcPct val="120000"/>
              </a:lnSpc>
            </a:pPr>
            <a:r>
              <a:rPr lang="en-GB" sz="2400" dirty="0"/>
              <a:t>Research has 2 major constituents.</a:t>
            </a:r>
          </a:p>
          <a:p>
            <a:pPr lvl="1">
              <a:lnSpc>
                <a:spcPct val="120000"/>
              </a:lnSpc>
            </a:pPr>
            <a:r>
              <a:rPr lang="en-GB" sz="2400" b="1" dirty="0">
                <a:solidFill>
                  <a:schemeClr val="tx2">
                    <a:lumMod val="75000"/>
                  </a:schemeClr>
                </a:solidFill>
                <a:latin typeface="Century Gothic" panose="020B0502020202020204" pitchFamily="34" charset="0"/>
              </a:rPr>
              <a:t>Discovery</a:t>
            </a:r>
            <a:r>
              <a:rPr lang="en-GB" sz="2400" dirty="0"/>
              <a:t> (Finding something previously unknown)</a:t>
            </a:r>
          </a:p>
          <a:p>
            <a:pPr lvl="1">
              <a:lnSpc>
                <a:spcPct val="120000"/>
              </a:lnSpc>
            </a:pPr>
            <a:r>
              <a:rPr lang="en-GB" sz="2400" b="1" dirty="0">
                <a:solidFill>
                  <a:schemeClr val="tx2">
                    <a:lumMod val="75000"/>
                  </a:schemeClr>
                </a:solidFill>
                <a:latin typeface="Century Gothic" panose="020B0502020202020204" pitchFamily="34" charset="0"/>
              </a:rPr>
              <a:t>Improvement</a:t>
            </a:r>
            <a:r>
              <a:rPr lang="en-GB" sz="2400" dirty="0"/>
              <a:t> (producing something better).</a:t>
            </a:r>
          </a:p>
          <a:p>
            <a:pPr>
              <a:lnSpc>
                <a:spcPct val="120000"/>
              </a:lnSpc>
            </a:pPr>
            <a:r>
              <a:rPr lang="en-GB" sz="2800" dirty="0"/>
              <a:t>Therefore Research can conclusively be defined as </a:t>
            </a:r>
            <a:r>
              <a:rPr lang="en-GB" sz="2800" b="1" i="1" dirty="0">
                <a:solidFill>
                  <a:schemeClr val="tx2"/>
                </a:solidFill>
              </a:rPr>
              <a:t>“a systematic collection, analysis and interpretation of data to answer a certain question or solve a problem”</a:t>
            </a:r>
          </a:p>
        </p:txBody>
      </p:sp>
      <p:sp>
        <p:nvSpPr>
          <p:cNvPr id="4" name="Date Placeholder 3"/>
          <p:cNvSpPr>
            <a:spLocks noGrp="1"/>
          </p:cNvSpPr>
          <p:nvPr>
            <p:ph type="dt" sz="half" idx="10"/>
          </p:nvPr>
        </p:nvSpPr>
        <p:spPr/>
        <p:txBody>
          <a:bodyPr/>
          <a:lstStyle/>
          <a:p>
            <a:fld id="{33450C93-E806-4ADA-A4C4-D30A452C5B4F}"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6</a:t>
            </a:fld>
            <a:endParaRPr lang="en-US"/>
          </a:p>
        </p:txBody>
      </p:sp>
    </p:spTree>
    <p:extLst>
      <p:ext uri="{BB962C8B-B14F-4D97-AF65-F5344CB8AC3E}">
        <p14:creationId xmlns:p14="http://schemas.microsoft.com/office/powerpoint/2010/main" val="545299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80">
                                          <p:stCondLst>
                                            <p:cond delay="0"/>
                                          </p:stCondLst>
                                        </p:cTn>
                                        <p:tgtEl>
                                          <p:spTgt spid="3">
                                            <p:txEl>
                                              <p:pRg st="2" end="2"/>
                                            </p:txEl>
                                          </p:spTgt>
                                        </p:tgtEl>
                                      </p:cBhvr>
                                    </p:animEffect>
                                    <p:anim calcmode="lin" valueType="num">
                                      <p:cBhvr>
                                        <p:cTn id="1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2" end="2"/>
                                            </p:txEl>
                                          </p:spTgt>
                                        </p:tgtEl>
                                      </p:cBhvr>
                                      <p:to x="100000" y="60000"/>
                                    </p:animScale>
                                    <p:animScale>
                                      <p:cBhvr>
                                        <p:cTn id="20" dur="166" decel="50000">
                                          <p:stCondLst>
                                            <p:cond delay="676"/>
                                          </p:stCondLst>
                                        </p:cTn>
                                        <p:tgtEl>
                                          <p:spTgt spid="3">
                                            <p:txEl>
                                              <p:pRg st="2" end="2"/>
                                            </p:txEl>
                                          </p:spTgt>
                                        </p:tgtEl>
                                      </p:cBhvr>
                                      <p:to x="100000" y="100000"/>
                                    </p:animScale>
                                    <p:animScale>
                                      <p:cBhvr>
                                        <p:cTn id="21" dur="26">
                                          <p:stCondLst>
                                            <p:cond delay="1312"/>
                                          </p:stCondLst>
                                        </p:cTn>
                                        <p:tgtEl>
                                          <p:spTgt spid="3">
                                            <p:txEl>
                                              <p:pRg st="2" end="2"/>
                                            </p:txEl>
                                          </p:spTgt>
                                        </p:tgtEl>
                                      </p:cBhvr>
                                      <p:to x="100000" y="80000"/>
                                    </p:animScale>
                                    <p:animScale>
                                      <p:cBhvr>
                                        <p:cTn id="22" dur="166" decel="50000">
                                          <p:stCondLst>
                                            <p:cond delay="1338"/>
                                          </p:stCondLst>
                                        </p:cTn>
                                        <p:tgtEl>
                                          <p:spTgt spid="3">
                                            <p:txEl>
                                              <p:pRg st="2" end="2"/>
                                            </p:txEl>
                                          </p:spTgt>
                                        </p:tgtEl>
                                      </p:cBhvr>
                                      <p:to x="100000" y="100000"/>
                                    </p:animScale>
                                    <p:animScale>
                                      <p:cBhvr>
                                        <p:cTn id="23" dur="26">
                                          <p:stCondLst>
                                            <p:cond delay="1642"/>
                                          </p:stCondLst>
                                        </p:cTn>
                                        <p:tgtEl>
                                          <p:spTgt spid="3">
                                            <p:txEl>
                                              <p:pRg st="2" end="2"/>
                                            </p:txEl>
                                          </p:spTgt>
                                        </p:tgtEl>
                                      </p:cBhvr>
                                      <p:to x="100000" y="90000"/>
                                    </p:animScale>
                                    <p:animScale>
                                      <p:cBhvr>
                                        <p:cTn id="24" dur="166" decel="50000">
                                          <p:stCondLst>
                                            <p:cond delay="1668"/>
                                          </p:stCondLst>
                                        </p:cTn>
                                        <p:tgtEl>
                                          <p:spTgt spid="3">
                                            <p:txEl>
                                              <p:pRg st="2" end="2"/>
                                            </p:txEl>
                                          </p:spTgt>
                                        </p:tgtEl>
                                      </p:cBhvr>
                                      <p:to x="100000" y="100000"/>
                                    </p:animScale>
                                    <p:animScale>
                                      <p:cBhvr>
                                        <p:cTn id="25" dur="26">
                                          <p:stCondLst>
                                            <p:cond delay="1808"/>
                                          </p:stCondLst>
                                        </p:cTn>
                                        <p:tgtEl>
                                          <p:spTgt spid="3">
                                            <p:txEl>
                                              <p:pRg st="2" end="2"/>
                                            </p:txEl>
                                          </p:spTgt>
                                        </p:tgtEl>
                                      </p:cBhvr>
                                      <p:to x="100000" y="95000"/>
                                    </p:animScale>
                                    <p:animScale>
                                      <p:cBhvr>
                                        <p:cTn id="2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771" y="304800"/>
            <a:ext cx="7040541" cy="630865"/>
          </a:xfrm>
        </p:spPr>
        <p:txBody>
          <a:bodyPr/>
          <a:lstStyle/>
          <a:p>
            <a:r>
              <a:rPr lang="en-GB" b="1" dirty="0"/>
              <a:t>Why Research?</a:t>
            </a:r>
          </a:p>
        </p:txBody>
      </p:sp>
      <p:sp>
        <p:nvSpPr>
          <p:cNvPr id="3" name="Content Placeholder 2"/>
          <p:cNvSpPr>
            <a:spLocks noGrp="1"/>
          </p:cNvSpPr>
          <p:nvPr>
            <p:ph idx="1"/>
          </p:nvPr>
        </p:nvSpPr>
        <p:spPr>
          <a:xfrm>
            <a:off x="1881963" y="1913862"/>
            <a:ext cx="8165806" cy="3530008"/>
          </a:xfrm>
        </p:spPr>
        <p:txBody>
          <a:bodyPr>
            <a:normAutofit/>
          </a:bodyPr>
          <a:lstStyle/>
          <a:p>
            <a:r>
              <a:rPr lang="en-GB" sz="2400" dirty="0"/>
              <a:t>New information </a:t>
            </a:r>
          </a:p>
          <a:p>
            <a:r>
              <a:rPr lang="en-GB" sz="2400" dirty="0"/>
              <a:t>Supplement on existing knowledge</a:t>
            </a:r>
          </a:p>
          <a:p>
            <a:r>
              <a:rPr lang="en-GB" sz="2400" dirty="0"/>
              <a:t>Challenge the existing information</a:t>
            </a:r>
          </a:p>
          <a:p>
            <a:r>
              <a:rPr lang="en-GB" sz="2400" dirty="0"/>
              <a:t>Most importantly helps to generate solutions to a problem</a:t>
            </a:r>
          </a:p>
        </p:txBody>
      </p:sp>
      <p:sp>
        <p:nvSpPr>
          <p:cNvPr id="4" name="Date Placeholder 3"/>
          <p:cNvSpPr>
            <a:spLocks noGrp="1"/>
          </p:cNvSpPr>
          <p:nvPr>
            <p:ph type="dt" sz="half" idx="10"/>
          </p:nvPr>
        </p:nvSpPr>
        <p:spPr/>
        <p:txBody>
          <a:bodyPr/>
          <a:lstStyle/>
          <a:p>
            <a:fld id="{B88EC235-017C-4CB2-8885-E9F033788A34}"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7</a:t>
            </a:fld>
            <a:endParaRPr lang="en-US"/>
          </a:p>
        </p:txBody>
      </p:sp>
    </p:spTree>
    <p:extLst>
      <p:ext uri="{BB962C8B-B14F-4D97-AF65-F5344CB8AC3E}">
        <p14:creationId xmlns:p14="http://schemas.microsoft.com/office/powerpoint/2010/main" val="182014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Objectives of Research</a:t>
            </a:r>
          </a:p>
        </p:txBody>
      </p:sp>
      <p:sp>
        <p:nvSpPr>
          <p:cNvPr id="3" name="Content Placeholder 2"/>
          <p:cNvSpPr>
            <a:spLocks noGrp="1"/>
          </p:cNvSpPr>
          <p:nvPr>
            <p:ph idx="1"/>
          </p:nvPr>
        </p:nvSpPr>
        <p:spPr>
          <a:xfrm>
            <a:off x="1860698" y="1627706"/>
            <a:ext cx="8537760" cy="3911857"/>
          </a:xfrm>
        </p:spPr>
        <p:txBody>
          <a:bodyPr>
            <a:normAutofit/>
          </a:bodyPr>
          <a:lstStyle/>
          <a:p>
            <a:r>
              <a:rPr lang="en-GB" sz="3200" dirty="0"/>
              <a:t>The main purpose of research is </a:t>
            </a:r>
            <a:r>
              <a:rPr lang="en-GB" sz="3200" b="1" i="1" dirty="0">
                <a:solidFill>
                  <a:schemeClr val="tx2">
                    <a:lumMod val="75000"/>
                  </a:schemeClr>
                </a:solidFill>
                <a:latin typeface="Century Gothic" panose="020B0502020202020204" pitchFamily="34" charset="0"/>
              </a:rPr>
              <a:t>to discover answers  to questions through the application of scientific procedures.</a:t>
            </a:r>
          </a:p>
          <a:p>
            <a:r>
              <a:rPr lang="en-GB" sz="3200" b="1" i="1" dirty="0">
                <a:solidFill>
                  <a:schemeClr val="tx2">
                    <a:lumMod val="75000"/>
                  </a:schemeClr>
                </a:solidFill>
                <a:latin typeface="Century Gothic" panose="020B0502020202020204" pitchFamily="34" charset="0"/>
              </a:rPr>
              <a:t>To find out the truth which is hidden and which has not been discovered as yet.</a:t>
            </a:r>
          </a:p>
        </p:txBody>
      </p:sp>
      <p:sp>
        <p:nvSpPr>
          <p:cNvPr id="4" name="Date Placeholder 3"/>
          <p:cNvSpPr>
            <a:spLocks noGrp="1"/>
          </p:cNvSpPr>
          <p:nvPr>
            <p:ph type="dt" sz="half" idx="10"/>
          </p:nvPr>
        </p:nvSpPr>
        <p:spPr/>
        <p:txBody>
          <a:bodyPr/>
          <a:lstStyle/>
          <a:p>
            <a:fld id="{B00780D9-ED7C-488C-BF7C-CD31A479D11C}"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8</a:t>
            </a:fld>
            <a:endParaRPr lang="en-US"/>
          </a:p>
        </p:txBody>
      </p:sp>
    </p:spTree>
    <p:extLst>
      <p:ext uri="{BB962C8B-B14F-4D97-AF65-F5344CB8AC3E}">
        <p14:creationId xmlns:p14="http://schemas.microsoft.com/office/powerpoint/2010/main" val="254234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Motivation in Research </a:t>
            </a:r>
          </a:p>
        </p:txBody>
      </p:sp>
      <p:sp>
        <p:nvSpPr>
          <p:cNvPr id="3" name="Content Placeholder 2"/>
          <p:cNvSpPr>
            <a:spLocks noGrp="1"/>
          </p:cNvSpPr>
          <p:nvPr>
            <p:ph idx="1"/>
          </p:nvPr>
        </p:nvSpPr>
        <p:spPr>
          <a:xfrm>
            <a:off x="2062716" y="2020185"/>
            <a:ext cx="8197703" cy="3902149"/>
          </a:xfrm>
        </p:spPr>
        <p:txBody>
          <a:bodyPr>
            <a:normAutofit/>
          </a:bodyPr>
          <a:lstStyle/>
          <a:p>
            <a:pPr algn="just"/>
            <a:r>
              <a:rPr lang="en-GB" sz="2800" dirty="0"/>
              <a:t>Desire to get a research degree with its consequential benefits.</a:t>
            </a:r>
          </a:p>
          <a:p>
            <a:pPr algn="just"/>
            <a:r>
              <a:rPr lang="en-GB" sz="2800" dirty="0"/>
              <a:t>Desire to face the challenge in solving the unsolved problems</a:t>
            </a:r>
          </a:p>
          <a:p>
            <a:pPr algn="just"/>
            <a:r>
              <a:rPr lang="en-GB" sz="2800" dirty="0"/>
              <a:t>Desire to get intellectual joy of doing some creative work</a:t>
            </a:r>
          </a:p>
        </p:txBody>
      </p:sp>
      <p:sp>
        <p:nvSpPr>
          <p:cNvPr id="4" name="Date Placeholder 3"/>
          <p:cNvSpPr>
            <a:spLocks noGrp="1"/>
          </p:cNvSpPr>
          <p:nvPr>
            <p:ph type="dt" sz="half" idx="10"/>
          </p:nvPr>
        </p:nvSpPr>
        <p:spPr/>
        <p:txBody>
          <a:bodyPr/>
          <a:lstStyle/>
          <a:p>
            <a:fld id="{B14DAA10-EB8B-4C12-85E8-E6ED86653323}"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9</a:t>
            </a:fld>
            <a:endParaRPr lang="en-US"/>
          </a:p>
        </p:txBody>
      </p:sp>
    </p:spTree>
    <p:extLst>
      <p:ext uri="{BB962C8B-B14F-4D97-AF65-F5344CB8AC3E}">
        <p14:creationId xmlns:p14="http://schemas.microsoft.com/office/powerpoint/2010/main" val="193440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Types of Research </a:t>
            </a:r>
          </a:p>
        </p:txBody>
      </p:sp>
      <p:sp>
        <p:nvSpPr>
          <p:cNvPr id="3" name="Content Placeholder 2"/>
          <p:cNvSpPr>
            <a:spLocks noGrp="1"/>
          </p:cNvSpPr>
          <p:nvPr>
            <p:ph idx="1"/>
          </p:nvPr>
        </p:nvSpPr>
        <p:spPr>
          <a:xfrm>
            <a:off x="1786270" y="1706880"/>
            <a:ext cx="9314121" cy="4204822"/>
          </a:xfrm>
        </p:spPr>
        <p:txBody>
          <a:bodyPr>
            <a:normAutofit fontScale="92500" lnSpcReduction="20000"/>
          </a:bodyPr>
          <a:lstStyle/>
          <a:p>
            <a:pPr algn="just"/>
            <a:r>
              <a:rPr lang="en-GB" sz="3500" b="1" dirty="0">
                <a:solidFill>
                  <a:schemeClr val="tx2"/>
                </a:solidFill>
              </a:rPr>
              <a:t>Descriptive Research. </a:t>
            </a:r>
            <a:r>
              <a:rPr lang="en-GB" sz="3500" dirty="0"/>
              <a:t>Includes surveys and fact finding enquiries of different kinds.</a:t>
            </a:r>
          </a:p>
          <a:p>
            <a:pPr algn="just"/>
            <a:r>
              <a:rPr lang="en-GB" sz="3500" dirty="0"/>
              <a:t>The main purpose of this </a:t>
            </a:r>
            <a:r>
              <a:rPr lang="en-GB" sz="3500" i="1" dirty="0"/>
              <a:t>research is </a:t>
            </a:r>
            <a:r>
              <a:rPr lang="en-GB" sz="3500" i="1" dirty="0">
                <a:solidFill>
                  <a:srgbClr val="00B050"/>
                </a:solidFill>
              </a:rPr>
              <a:t>“to describe the state of affairs as it exists at present”</a:t>
            </a:r>
            <a:r>
              <a:rPr lang="en-GB" sz="3500" dirty="0">
                <a:solidFill>
                  <a:srgbClr val="00B050"/>
                </a:solidFill>
              </a:rPr>
              <a:t>. </a:t>
            </a:r>
            <a:r>
              <a:rPr lang="en-GB" sz="3500" dirty="0"/>
              <a:t>It is also termed as </a:t>
            </a:r>
            <a:r>
              <a:rPr lang="en-GB" sz="3500" b="1" i="1" dirty="0">
                <a:solidFill>
                  <a:srgbClr val="FF0000"/>
                </a:solidFill>
              </a:rPr>
              <a:t>Ex Post Facto research.</a:t>
            </a:r>
          </a:p>
          <a:p>
            <a:pPr algn="just"/>
            <a:r>
              <a:rPr lang="en-GB" sz="3500" b="1" i="1" dirty="0">
                <a:solidFill>
                  <a:srgbClr val="0070C0"/>
                </a:solidFill>
              </a:rPr>
              <a:t>The main characteristic of this research is that the researcher has no control over the variables, he can only report what has happened or what is happening.</a:t>
            </a:r>
          </a:p>
        </p:txBody>
      </p:sp>
      <p:sp>
        <p:nvSpPr>
          <p:cNvPr id="4" name="Date Placeholder 3"/>
          <p:cNvSpPr>
            <a:spLocks noGrp="1"/>
          </p:cNvSpPr>
          <p:nvPr>
            <p:ph type="dt" sz="half" idx="10"/>
          </p:nvPr>
        </p:nvSpPr>
        <p:spPr/>
        <p:txBody>
          <a:bodyPr/>
          <a:lstStyle/>
          <a:p>
            <a:fld id="{A4B50161-25B9-49BC-9E7F-A27E6135FDAA}"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10</a:t>
            </a:fld>
            <a:endParaRPr lang="en-US"/>
          </a:p>
        </p:txBody>
      </p:sp>
    </p:spTree>
    <p:extLst>
      <p:ext uri="{BB962C8B-B14F-4D97-AF65-F5344CB8AC3E}">
        <p14:creationId xmlns:p14="http://schemas.microsoft.com/office/powerpoint/2010/main" val="405237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anim calcmode="lin" valueType="num">
                                      <p:cBhvr>
                                        <p:cTn id="1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a:xfrm>
            <a:off x="2589212" y="1564640"/>
            <a:ext cx="8915400" cy="4346582"/>
          </a:xfrm>
        </p:spPr>
        <p:txBody>
          <a:bodyPr>
            <a:normAutofit fontScale="92500" lnSpcReduction="10000"/>
          </a:bodyPr>
          <a:lstStyle/>
          <a:p>
            <a:r>
              <a:rPr lang="en-GB" sz="3500" dirty="0"/>
              <a:t>In this research, the researcher seeks to measure items like the frequency of shopping, preference of people.</a:t>
            </a:r>
          </a:p>
          <a:p>
            <a:endParaRPr lang="en-GB" sz="3500" dirty="0"/>
          </a:p>
          <a:p>
            <a:r>
              <a:rPr lang="en-GB" sz="3500" dirty="0"/>
              <a:t>However </a:t>
            </a:r>
            <a:r>
              <a:rPr lang="en-GB" sz="3500" b="1" i="1" dirty="0">
                <a:solidFill>
                  <a:srgbClr val="0070C0"/>
                </a:solidFill>
              </a:rPr>
              <a:t>Analytical research </a:t>
            </a:r>
            <a:r>
              <a:rPr lang="en-GB" sz="3500" b="1" dirty="0"/>
              <a:t>on the other hand, </a:t>
            </a:r>
            <a:r>
              <a:rPr lang="en-GB" sz="3500" b="1" dirty="0">
                <a:solidFill>
                  <a:srgbClr val="FF0000"/>
                </a:solidFill>
              </a:rPr>
              <a:t>“the researcher has to use facts or information already available and Analyze these facts to make a critical evaluation of the material</a:t>
            </a:r>
            <a:r>
              <a:rPr lang="en-GB" sz="3500" b="1" dirty="0"/>
              <a:t>”</a:t>
            </a:r>
          </a:p>
        </p:txBody>
      </p:sp>
      <p:sp>
        <p:nvSpPr>
          <p:cNvPr id="4" name="Date Placeholder 3"/>
          <p:cNvSpPr>
            <a:spLocks noGrp="1"/>
          </p:cNvSpPr>
          <p:nvPr>
            <p:ph type="dt" sz="half" idx="10"/>
          </p:nvPr>
        </p:nvSpPr>
        <p:spPr/>
        <p:txBody>
          <a:bodyPr/>
          <a:lstStyle/>
          <a:p>
            <a:fld id="{272C8269-E446-454A-B0AD-95D55DFBC52F}"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11</a:t>
            </a:fld>
            <a:endParaRPr lang="en-US"/>
          </a:p>
        </p:txBody>
      </p:sp>
    </p:spTree>
    <p:extLst>
      <p:ext uri="{BB962C8B-B14F-4D97-AF65-F5344CB8AC3E}">
        <p14:creationId xmlns:p14="http://schemas.microsoft.com/office/powerpoint/2010/main" val="303251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APPLIED VS FUNDAMENTAL</a:t>
            </a:r>
          </a:p>
        </p:txBody>
      </p:sp>
      <p:sp>
        <p:nvSpPr>
          <p:cNvPr id="3" name="Content Placeholder 2"/>
          <p:cNvSpPr>
            <a:spLocks noGrp="1"/>
          </p:cNvSpPr>
          <p:nvPr>
            <p:ph idx="1"/>
          </p:nvPr>
        </p:nvSpPr>
        <p:spPr>
          <a:xfrm>
            <a:off x="1818167" y="1627706"/>
            <a:ext cx="8580291" cy="4113875"/>
          </a:xfrm>
        </p:spPr>
        <p:txBody>
          <a:bodyPr>
            <a:normAutofit lnSpcReduction="10000"/>
          </a:bodyPr>
          <a:lstStyle/>
          <a:p>
            <a:pPr algn="just"/>
            <a:r>
              <a:rPr lang="en-GB" sz="3500" b="1" u="sng" dirty="0"/>
              <a:t>Applied research </a:t>
            </a:r>
            <a:r>
              <a:rPr lang="en-GB" sz="3500" dirty="0"/>
              <a:t>is also action research and it </a:t>
            </a:r>
            <a:r>
              <a:rPr lang="en-GB" sz="3500" i="1" dirty="0">
                <a:solidFill>
                  <a:srgbClr val="FF0000"/>
                </a:solidFill>
              </a:rPr>
              <a:t>aims at finding a solution for an immediate problem facing the society, organisation. </a:t>
            </a:r>
          </a:p>
          <a:p>
            <a:pPr algn="just"/>
            <a:r>
              <a:rPr lang="en-GB" sz="3500" dirty="0"/>
              <a:t>Whereas </a:t>
            </a:r>
            <a:r>
              <a:rPr lang="en-GB" sz="3500" b="1" u="sng" dirty="0"/>
              <a:t>Fundamental research </a:t>
            </a:r>
            <a:r>
              <a:rPr lang="en-GB" sz="3500" dirty="0"/>
              <a:t>is </a:t>
            </a:r>
            <a:r>
              <a:rPr lang="en-GB" sz="3500" i="1" dirty="0">
                <a:solidFill>
                  <a:srgbClr val="FF0000"/>
                </a:solidFill>
              </a:rPr>
              <a:t>mainly concerned with generalizations and formulation of a theory or gathering knowledge for knowledge. </a:t>
            </a:r>
          </a:p>
        </p:txBody>
      </p:sp>
      <p:sp>
        <p:nvSpPr>
          <p:cNvPr id="4" name="Date Placeholder 3"/>
          <p:cNvSpPr>
            <a:spLocks noGrp="1"/>
          </p:cNvSpPr>
          <p:nvPr>
            <p:ph type="dt" sz="half" idx="10"/>
          </p:nvPr>
        </p:nvSpPr>
        <p:spPr/>
        <p:txBody>
          <a:bodyPr/>
          <a:lstStyle/>
          <a:p>
            <a:fld id="{0D05B032-54E8-44F7-8F17-1F2CEDD64061}"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12</a:t>
            </a:fld>
            <a:endParaRPr lang="en-US"/>
          </a:p>
        </p:txBody>
      </p:sp>
    </p:spTree>
    <p:extLst>
      <p:ext uri="{BB962C8B-B14F-4D97-AF65-F5344CB8AC3E}">
        <p14:creationId xmlns:p14="http://schemas.microsoft.com/office/powerpoint/2010/main" val="3523240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1088" y="304800"/>
            <a:ext cx="8304028" cy="761999"/>
          </a:xfrm>
        </p:spPr>
        <p:txBody>
          <a:bodyPr/>
          <a:lstStyle/>
          <a:p>
            <a:r>
              <a:rPr lang="en-GB" dirty="0"/>
              <a:t>Applied Vs Fundamental…..</a:t>
            </a:r>
          </a:p>
        </p:txBody>
      </p:sp>
      <p:sp>
        <p:nvSpPr>
          <p:cNvPr id="3" name="Content Placeholder 2"/>
          <p:cNvSpPr>
            <a:spLocks noGrp="1"/>
          </p:cNvSpPr>
          <p:nvPr>
            <p:ph idx="1"/>
          </p:nvPr>
        </p:nvSpPr>
        <p:spPr>
          <a:xfrm>
            <a:off x="1743740" y="1627707"/>
            <a:ext cx="8654718" cy="4050080"/>
          </a:xfrm>
        </p:spPr>
        <p:txBody>
          <a:bodyPr>
            <a:normAutofit fontScale="92500" lnSpcReduction="10000"/>
          </a:bodyPr>
          <a:lstStyle/>
          <a:p>
            <a:pPr algn="just"/>
            <a:r>
              <a:rPr lang="en-GB" sz="3500" b="1" i="1" dirty="0"/>
              <a:t>Research studies, concerning human behaviour carried on with a view to make generalisations about human behaviour</a:t>
            </a:r>
            <a:r>
              <a:rPr lang="en-GB" sz="3500" dirty="0"/>
              <a:t>, are examples of </a:t>
            </a:r>
            <a:r>
              <a:rPr lang="en-GB" sz="3500" b="1" dirty="0">
                <a:solidFill>
                  <a:srgbClr val="FF0000"/>
                </a:solidFill>
              </a:rPr>
              <a:t>fundamental research.</a:t>
            </a:r>
          </a:p>
          <a:p>
            <a:r>
              <a:rPr lang="en-GB" sz="3600" b="1" i="1" dirty="0"/>
              <a:t>But research aimed at certain conclusions (say, a solution) facing a concrete social or business problem</a:t>
            </a:r>
            <a:r>
              <a:rPr lang="en-GB" sz="3600" dirty="0"/>
              <a:t> is an example of </a:t>
            </a:r>
            <a:r>
              <a:rPr lang="en-GB" sz="3600" b="1" dirty="0">
                <a:solidFill>
                  <a:srgbClr val="FF0000"/>
                </a:solidFill>
              </a:rPr>
              <a:t>applied research</a:t>
            </a:r>
            <a:r>
              <a:rPr lang="en-GB" sz="3600" dirty="0"/>
              <a:t>.</a:t>
            </a:r>
            <a:endParaRPr lang="en-GB" sz="3500" dirty="0"/>
          </a:p>
          <a:p>
            <a:pPr algn="just"/>
            <a:endParaRPr lang="en-GB" sz="3500" dirty="0"/>
          </a:p>
        </p:txBody>
      </p:sp>
      <p:sp>
        <p:nvSpPr>
          <p:cNvPr id="4" name="Date Placeholder 3"/>
          <p:cNvSpPr>
            <a:spLocks noGrp="1"/>
          </p:cNvSpPr>
          <p:nvPr>
            <p:ph type="dt" sz="half" idx="10"/>
          </p:nvPr>
        </p:nvSpPr>
        <p:spPr/>
        <p:txBody>
          <a:bodyPr/>
          <a:lstStyle/>
          <a:p>
            <a:fld id="{8EC91622-FD8B-4FC0-91E0-FD3232F9F1FC}"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13</a:t>
            </a:fld>
            <a:endParaRPr lang="en-US"/>
          </a:p>
        </p:txBody>
      </p:sp>
    </p:spTree>
    <p:extLst>
      <p:ext uri="{BB962C8B-B14F-4D97-AF65-F5344CB8AC3E}">
        <p14:creationId xmlns:p14="http://schemas.microsoft.com/office/powerpoint/2010/main" val="3372668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7321" y="320929"/>
            <a:ext cx="8397358" cy="795740"/>
          </a:xfrm>
        </p:spPr>
        <p:txBody>
          <a:bodyPr/>
          <a:lstStyle/>
          <a:p>
            <a:r>
              <a:rPr lang="en-GB" b="1" dirty="0"/>
              <a:t>Quantitative Vs Qualitative Research </a:t>
            </a:r>
          </a:p>
        </p:txBody>
      </p:sp>
      <p:sp>
        <p:nvSpPr>
          <p:cNvPr id="3" name="Content Placeholder 2"/>
          <p:cNvSpPr>
            <a:spLocks noGrp="1"/>
          </p:cNvSpPr>
          <p:nvPr>
            <p:ph idx="1"/>
          </p:nvPr>
        </p:nvSpPr>
        <p:spPr>
          <a:xfrm>
            <a:off x="1746101" y="1830572"/>
            <a:ext cx="9290493" cy="3879112"/>
          </a:xfrm>
        </p:spPr>
        <p:txBody>
          <a:bodyPr>
            <a:normAutofit fontScale="77500" lnSpcReduction="20000"/>
          </a:bodyPr>
          <a:lstStyle/>
          <a:p>
            <a:pPr algn="just"/>
            <a:r>
              <a:rPr lang="en-GB" sz="3500" b="1" dirty="0">
                <a:solidFill>
                  <a:srgbClr val="FF0000"/>
                </a:solidFill>
              </a:rPr>
              <a:t>Quantitative research </a:t>
            </a:r>
            <a:r>
              <a:rPr lang="en-GB" sz="3500" dirty="0"/>
              <a:t>is based on the measurement of quantity or amount, its applicable to a phenomena that can be expressed in  terms of quantity or amount.</a:t>
            </a:r>
          </a:p>
          <a:p>
            <a:pPr algn="just"/>
            <a:endParaRPr lang="en-GB" sz="3500" dirty="0"/>
          </a:p>
          <a:p>
            <a:pPr algn="just"/>
            <a:r>
              <a:rPr lang="en-GB" sz="3600" b="1" dirty="0">
                <a:solidFill>
                  <a:srgbClr val="FF0000"/>
                </a:solidFill>
              </a:rPr>
              <a:t>Qualitative research </a:t>
            </a:r>
            <a:r>
              <a:rPr lang="en-GB" sz="3600" dirty="0"/>
              <a:t>is specially important in studies where the aim is to discover the underlying motives of human behaviour. This type of research aims at discovering the underlying motives and desires, using in depth interviews for the purpose.</a:t>
            </a:r>
            <a:endParaRPr lang="en-GB" sz="3500" dirty="0"/>
          </a:p>
        </p:txBody>
      </p:sp>
      <p:sp>
        <p:nvSpPr>
          <p:cNvPr id="4" name="Date Placeholder 3"/>
          <p:cNvSpPr>
            <a:spLocks noGrp="1"/>
          </p:cNvSpPr>
          <p:nvPr>
            <p:ph type="dt" sz="half" idx="10"/>
          </p:nvPr>
        </p:nvSpPr>
        <p:spPr/>
        <p:txBody>
          <a:bodyPr/>
          <a:lstStyle/>
          <a:p>
            <a:fld id="{CBCC4B49-9067-4E40-AA61-83A56ED3E79B}"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14</a:t>
            </a:fld>
            <a:endParaRPr lang="en-US"/>
          </a:p>
        </p:txBody>
      </p:sp>
    </p:spTree>
    <p:extLst>
      <p:ext uri="{BB962C8B-B14F-4D97-AF65-F5344CB8AC3E}">
        <p14:creationId xmlns:p14="http://schemas.microsoft.com/office/powerpoint/2010/main" val="2589755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3619" y="304801"/>
            <a:ext cx="8824839" cy="641978"/>
          </a:xfrm>
        </p:spPr>
        <p:txBody>
          <a:bodyPr/>
          <a:lstStyle/>
          <a:p>
            <a:pPr algn="ctr"/>
            <a:r>
              <a:rPr lang="en-GB" b="1" dirty="0"/>
              <a:t>RESEARCH APPROACHES</a:t>
            </a:r>
          </a:p>
        </p:txBody>
      </p:sp>
      <p:sp>
        <p:nvSpPr>
          <p:cNvPr id="3" name="Content Placeholder 2"/>
          <p:cNvSpPr>
            <a:spLocks noGrp="1"/>
          </p:cNvSpPr>
          <p:nvPr>
            <p:ph idx="1"/>
          </p:nvPr>
        </p:nvSpPr>
        <p:spPr>
          <a:xfrm>
            <a:off x="2083982" y="1658679"/>
            <a:ext cx="8729330" cy="4252543"/>
          </a:xfrm>
        </p:spPr>
        <p:txBody>
          <a:bodyPr>
            <a:normAutofit fontScale="92500" lnSpcReduction="10000"/>
          </a:bodyPr>
          <a:lstStyle/>
          <a:p>
            <a:pPr algn="just"/>
            <a:r>
              <a:rPr lang="en-GB" sz="3500" b="1" dirty="0"/>
              <a:t>Quantitative Approach. </a:t>
            </a:r>
            <a:r>
              <a:rPr lang="en-GB" sz="3600" dirty="0"/>
              <a:t>This involves the generation of data in quantitative form which can be subjected to rigorous quantitative analysis in a formal and rigid fashion.</a:t>
            </a:r>
          </a:p>
          <a:p>
            <a:pPr algn="just"/>
            <a:r>
              <a:rPr lang="en-GB" sz="3600" b="1" dirty="0"/>
              <a:t>Qualitative Approach. </a:t>
            </a:r>
            <a:r>
              <a:rPr lang="en-GB" sz="3600" dirty="0"/>
              <a:t>is concerned with subjective assessment of attitudes, opinions and behaviour. Research in such a situation is a function of researcher’s insights and impressions.</a:t>
            </a:r>
            <a:endParaRPr lang="en-GB" sz="3500" b="1" dirty="0"/>
          </a:p>
        </p:txBody>
      </p:sp>
      <p:sp>
        <p:nvSpPr>
          <p:cNvPr id="4" name="Date Placeholder 3"/>
          <p:cNvSpPr>
            <a:spLocks noGrp="1"/>
          </p:cNvSpPr>
          <p:nvPr>
            <p:ph type="dt" sz="half" idx="10"/>
          </p:nvPr>
        </p:nvSpPr>
        <p:spPr/>
        <p:txBody>
          <a:bodyPr/>
          <a:lstStyle/>
          <a:p>
            <a:fld id="{A7A649DA-0129-4E1E-BA60-F843750F0ABC}"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15</a:t>
            </a:fld>
            <a:endParaRPr lang="en-US"/>
          </a:p>
        </p:txBody>
      </p:sp>
    </p:spTree>
    <p:extLst>
      <p:ext uri="{BB962C8B-B14F-4D97-AF65-F5344CB8AC3E}">
        <p14:creationId xmlns:p14="http://schemas.microsoft.com/office/powerpoint/2010/main" val="3808121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RESEARCH PROCESS</a:t>
            </a:r>
            <a:endParaRPr lang="en-GB" b="1"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9245" y="1538656"/>
            <a:ext cx="10622958" cy="4728357"/>
          </a:xfrm>
        </p:spPr>
      </p:pic>
      <p:sp>
        <p:nvSpPr>
          <p:cNvPr id="4" name="Date Placeholder 3"/>
          <p:cNvSpPr>
            <a:spLocks noGrp="1"/>
          </p:cNvSpPr>
          <p:nvPr>
            <p:ph type="dt" sz="half" idx="10"/>
          </p:nvPr>
        </p:nvSpPr>
        <p:spPr/>
        <p:txBody>
          <a:bodyPr/>
          <a:lstStyle/>
          <a:p>
            <a:fld id="{8BF81631-A669-4E75-B602-08E2AD2DC0AC}"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16</a:t>
            </a:fld>
            <a:endParaRPr lang="en-US"/>
          </a:p>
        </p:txBody>
      </p:sp>
    </p:spTree>
    <p:extLst>
      <p:ext uri="{BB962C8B-B14F-4D97-AF65-F5344CB8AC3E}">
        <p14:creationId xmlns:p14="http://schemas.microsoft.com/office/powerpoint/2010/main" val="2279273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Century Gothic" panose="020B0502020202020204" pitchFamily="34" charset="0"/>
              </a:rPr>
              <a:t>The Research Process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2878" y="1429556"/>
            <a:ext cx="10000682" cy="4453720"/>
          </a:xfrm>
        </p:spPr>
      </p:pic>
      <p:sp>
        <p:nvSpPr>
          <p:cNvPr id="4" name="Date Placeholder 3"/>
          <p:cNvSpPr>
            <a:spLocks noGrp="1"/>
          </p:cNvSpPr>
          <p:nvPr>
            <p:ph type="dt" sz="half" idx="10"/>
          </p:nvPr>
        </p:nvSpPr>
        <p:spPr/>
        <p:txBody>
          <a:bodyPr/>
          <a:lstStyle/>
          <a:p>
            <a:fld id="{B4816424-D120-4229-8772-B2D2148AB90F}"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17</a:t>
            </a:fld>
            <a:endParaRPr lang="en-US"/>
          </a:p>
        </p:txBody>
      </p:sp>
    </p:spTree>
    <p:extLst>
      <p:ext uri="{BB962C8B-B14F-4D97-AF65-F5344CB8AC3E}">
        <p14:creationId xmlns:p14="http://schemas.microsoft.com/office/powerpoint/2010/main" val="522064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CRITERIA OF GOOD RESEARCH</a:t>
            </a:r>
          </a:p>
        </p:txBody>
      </p:sp>
      <p:sp>
        <p:nvSpPr>
          <p:cNvPr id="3" name="Content Placeholder 2"/>
          <p:cNvSpPr>
            <a:spLocks noGrp="1"/>
          </p:cNvSpPr>
          <p:nvPr>
            <p:ph idx="1"/>
          </p:nvPr>
        </p:nvSpPr>
        <p:spPr>
          <a:xfrm>
            <a:off x="1650998" y="1734878"/>
            <a:ext cx="8915400" cy="4225437"/>
          </a:xfrm>
        </p:spPr>
        <p:txBody>
          <a:bodyPr>
            <a:normAutofit fontScale="77500" lnSpcReduction="20000"/>
          </a:bodyPr>
          <a:lstStyle/>
          <a:p>
            <a:r>
              <a:rPr lang="en-GB" sz="3500" b="1" dirty="0">
                <a:solidFill>
                  <a:srgbClr val="00B050"/>
                </a:solidFill>
              </a:rPr>
              <a:t>Good research Must satisfy the following criteria: </a:t>
            </a:r>
          </a:p>
          <a:p>
            <a:endParaRPr lang="en-GB" sz="3500" b="1" dirty="0">
              <a:solidFill>
                <a:srgbClr val="00B050"/>
              </a:solidFill>
            </a:endParaRPr>
          </a:p>
          <a:p>
            <a:r>
              <a:rPr lang="en-GB" sz="3500" dirty="0"/>
              <a:t>The purpose of the research should be clearly defined and common concepts be used.</a:t>
            </a:r>
          </a:p>
          <a:p>
            <a:r>
              <a:rPr lang="en-GB" sz="3500" dirty="0"/>
              <a:t>The research procedure should be clearly described in detail to allow another researcher to repeat the research for further advancement.</a:t>
            </a:r>
          </a:p>
          <a:p>
            <a:r>
              <a:rPr lang="en-GB" sz="3500" dirty="0"/>
              <a:t>The procedural design of the research should be carefully planned to yield results that are as objective as possible</a:t>
            </a:r>
          </a:p>
        </p:txBody>
      </p:sp>
      <p:sp>
        <p:nvSpPr>
          <p:cNvPr id="4" name="Date Placeholder 3"/>
          <p:cNvSpPr>
            <a:spLocks noGrp="1"/>
          </p:cNvSpPr>
          <p:nvPr>
            <p:ph type="dt" sz="half" idx="10"/>
          </p:nvPr>
        </p:nvSpPr>
        <p:spPr/>
        <p:txBody>
          <a:bodyPr/>
          <a:lstStyle/>
          <a:p>
            <a:fld id="{C1D9DF25-E3B1-440C-9564-53E1FDAAFA5E}"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18</a:t>
            </a:fld>
            <a:endParaRPr lang="en-US"/>
          </a:p>
        </p:txBody>
      </p:sp>
    </p:spTree>
    <p:extLst>
      <p:ext uri="{BB962C8B-B14F-4D97-AF65-F5344CB8AC3E}">
        <p14:creationId xmlns:p14="http://schemas.microsoft.com/office/powerpoint/2010/main" val="2520435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1711842" y="1594884"/>
            <a:ext cx="8474149" cy="4593087"/>
          </a:xfrm>
        </p:spPr>
        <p:txBody>
          <a:bodyPr>
            <a:normAutofit/>
          </a:bodyPr>
          <a:lstStyle/>
          <a:p>
            <a:r>
              <a:rPr lang="en-GB" sz="2400" dirty="0"/>
              <a:t>The researcher with complete frankness should report the flaws in the procedural design and estimate their effects on the findings.</a:t>
            </a:r>
          </a:p>
          <a:p>
            <a:r>
              <a:rPr lang="en-GB" sz="2400" dirty="0"/>
              <a:t>The analysis of data should be adequate enough to reveal its significance. The data analysis methods used should be appropriate.</a:t>
            </a:r>
          </a:p>
          <a:p>
            <a:r>
              <a:rPr lang="en-GB" sz="2400" dirty="0"/>
              <a:t>Conclusions should be confined to those justified by the data of the research and limited to those for which data provide an adequate basis.</a:t>
            </a:r>
          </a:p>
        </p:txBody>
      </p:sp>
      <p:sp>
        <p:nvSpPr>
          <p:cNvPr id="4" name="Date Placeholder 3"/>
          <p:cNvSpPr>
            <a:spLocks noGrp="1"/>
          </p:cNvSpPr>
          <p:nvPr>
            <p:ph type="dt" sz="half" idx="10"/>
          </p:nvPr>
        </p:nvSpPr>
        <p:spPr/>
        <p:txBody>
          <a:bodyPr/>
          <a:lstStyle/>
          <a:p>
            <a:fld id="{D8933D1E-54AC-4AF4-A519-0E84283E9E1A}"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19</a:t>
            </a:fld>
            <a:endParaRPr lang="en-US"/>
          </a:p>
        </p:txBody>
      </p:sp>
    </p:spTree>
    <p:extLst>
      <p:ext uri="{BB962C8B-B14F-4D97-AF65-F5344CB8AC3E}">
        <p14:creationId xmlns:p14="http://schemas.microsoft.com/office/powerpoint/2010/main" val="191687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1839433" y="1627706"/>
            <a:ext cx="8559025" cy="4167038"/>
          </a:xfrm>
        </p:spPr>
        <p:txBody>
          <a:bodyPr>
            <a:normAutofit/>
          </a:bodyPr>
          <a:lstStyle/>
          <a:p>
            <a:r>
              <a:rPr lang="en-GB" sz="3500" dirty="0"/>
              <a:t>Greater confidence in research is warranted if the researcher is experienced and has a good reputation in research.</a:t>
            </a:r>
          </a:p>
        </p:txBody>
      </p:sp>
      <p:sp>
        <p:nvSpPr>
          <p:cNvPr id="4" name="Date Placeholder 3"/>
          <p:cNvSpPr>
            <a:spLocks noGrp="1"/>
          </p:cNvSpPr>
          <p:nvPr>
            <p:ph type="dt" sz="half" idx="10"/>
          </p:nvPr>
        </p:nvSpPr>
        <p:spPr/>
        <p:txBody>
          <a:bodyPr/>
          <a:lstStyle/>
          <a:p>
            <a:fld id="{26177348-F5E6-4FD2-B22B-295019C2F1C0}"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20</a:t>
            </a:fld>
            <a:endParaRPr lang="en-US"/>
          </a:p>
        </p:txBody>
      </p:sp>
    </p:spTree>
    <p:extLst>
      <p:ext uri="{BB962C8B-B14F-4D97-AF65-F5344CB8AC3E}">
        <p14:creationId xmlns:p14="http://schemas.microsoft.com/office/powerpoint/2010/main" val="3706114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GB" b="1" dirty="0"/>
              <a:t>Qualities of a good research</a:t>
            </a:r>
          </a:p>
        </p:txBody>
      </p:sp>
      <p:sp>
        <p:nvSpPr>
          <p:cNvPr id="3" name="Content Placeholder 2"/>
          <p:cNvSpPr>
            <a:spLocks noGrp="1"/>
          </p:cNvSpPr>
          <p:nvPr>
            <p:ph idx="1"/>
          </p:nvPr>
        </p:nvSpPr>
        <p:spPr/>
        <p:txBody>
          <a:bodyPr>
            <a:normAutofit fontScale="92500"/>
          </a:bodyPr>
          <a:lstStyle/>
          <a:p>
            <a:pPr algn="just"/>
            <a:r>
              <a:rPr lang="en-GB" sz="3500" b="1" i="1" dirty="0">
                <a:solidFill>
                  <a:srgbClr val="00B050"/>
                </a:solidFill>
              </a:rPr>
              <a:t>Good research is systematic: </a:t>
            </a:r>
            <a:r>
              <a:rPr lang="en-GB" sz="3500" i="1" dirty="0"/>
              <a:t>Meaning that research is structured with specified steps to be taken in a specified sequence in accordance with the well defined set of rules.</a:t>
            </a:r>
          </a:p>
          <a:p>
            <a:pPr algn="just"/>
            <a:r>
              <a:rPr lang="en-GB" sz="3500" b="1" i="1" dirty="0">
                <a:solidFill>
                  <a:srgbClr val="00B050"/>
                </a:solidFill>
              </a:rPr>
              <a:t>Good research is logical: </a:t>
            </a:r>
            <a:r>
              <a:rPr lang="en-GB" sz="3500" i="1" dirty="0"/>
              <a:t>this implies that research is guided by the rules of logical reasoning and logical process of induction and deduction. </a:t>
            </a:r>
            <a:endParaRPr lang="en-GB" sz="3500" dirty="0"/>
          </a:p>
        </p:txBody>
      </p:sp>
      <p:sp>
        <p:nvSpPr>
          <p:cNvPr id="4" name="Date Placeholder 3"/>
          <p:cNvSpPr>
            <a:spLocks noGrp="1"/>
          </p:cNvSpPr>
          <p:nvPr>
            <p:ph type="dt" sz="half" idx="10"/>
          </p:nvPr>
        </p:nvSpPr>
        <p:spPr/>
        <p:txBody>
          <a:bodyPr/>
          <a:lstStyle/>
          <a:p>
            <a:fld id="{8889E4D5-4C71-4051-BB18-C632F4726A34}"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21</a:t>
            </a:fld>
            <a:endParaRPr lang="en-US"/>
          </a:p>
        </p:txBody>
      </p:sp>
    </p:spTree>
    <p:extLst>
      <p:ext uri="{BB962C8B-B14F-4D97-AF65-F5344CB8AC3E}">
        <p14:creationId xmlns:p14="http://schemas.microsoft.com/office/powerpoint/2010/main" val="574221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Contd…</a:t>
            </a:r>
          </a:p>
        </p:txBody>
      </p:sp>
      <p:sp>
        <p:nvSpPr>
          <p:cNvPr id="3" name="Content Placeholder 2"/>
          <p:cNvSpPr>
            <a:spLocks noGrp="1"/>
          </p:cNvSpPr>
          <p:nvPr>
            <p:ph idx="1"/>
          </p:nvPr>
        </p:nvSpPr>
        <p:spPr>
          <a:xfrm>
            <a:off x="1699702" y="1621301"/>
            <a:ext cx="8953937" cy="4163495"/>
          </a:xfrm>
        </p:spPr>
        <p:txBody>
          <a:bodyPr>
            <a:normAutofit lnSpcReduction="10000"/>
          </a:bodyPr>
          <a:lstStyle/>
          <a:p>
            <a:pPr algn="just"/>
            <a:r>
              <a:rPr lang="en-GB" sz="3500" i="1" dirty="0"/>
              <a:t>Induction </a:t>
            </a:r>
            <a:r>
              <a:rPr lang="en-GB" sz="3500" dirty="0"/>
              <a:t>is the process of reasoning from a part to the whole whereas deduction is the process of reasoning from some premise to a conclusion which follows from that very premise.</a:t>
            </a:r>
          </a:p>
          <a:p>
            <a:r>
              <a:rPr lang="en-GB" sz="3600" dirty="0"/>
              <a:t>Logical reasoning makes research more meaningful in the context of decision making.</a:t>
            </a:r>
            <a:endParaRPr lang="en-GB" sz="3500" dirty="0"/>
          </a:p>
          <a:p>
            <a:pPr algn="just"/>
            <a:endParaRPr lang="en-GB" sz="3500" dirty="0"/>
          </a:p>
        </p:txBody>
      </p:sp>
      <p:sp>
        <p:nvSpPr>
          <p:cNvPr id="4" name="Date Placeholder 3"/>
          <p:cNvSpPr>
            <a:spLocks noGrp="1"/>
          </p:cNvSpPr>
          <p:nvPr>
            <p:ph type="dt" sz="half" idx="10"/>
          </p:nvPr>
        </p:nvSpPr>
        <p:spPr/>
        <p:txBody>
          <a:bodyPr/>
          <a:lstStyle/>
          <a:p>
            <a:fld id="{F957E558-6B3C-45B8-B828-CFFF71D2F144}"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22</a:t>
            </a:fld>
            <a:endParaRPr lang="en-US"/>
          </a:p>
        </p:txBody>
      </p:sp>
    </p:spTree>
    <p:extLst>
      <p:ext uri="{BB962C8B-B14F-4D97-AF65-F5344CB8AC3E}">
        <p14:creationId xmlns:p14="http://schemas.microsoft.com/office/powerpoint/2010/main" val="22513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Contd…</a:t>
            </a:r>
          </a:p>
        </p:txBody>
      </p:sp>
      <p:sp>
        <p:nvSpPr>
          <p:cNvPr id="3" name="Content Placeholder 2"/>
          <p:cNvSpPr>
            <a:spLocks noGrp="1"/>
          </p:cNvSpPr>
          <p:nvPr>
            <p:ph idx="1"/>
          </p:nvPr>
        </p:nvSpPr>
        <p:spPr>
          <a:xfrm>
            <a:off x="1648047" y="1627706"/>
            <a:ext cx="8750411" cy="4167038"/>
          </a:xfrm>
        </p:spPr>
        <p:txBody>
          <a:bodyPr>
            <a:normAutofit fontScale="92500" lnSpcReduction="20000"/>
          </a:bodyPr>
          <a:lstStyle/>
          <a:p>
            <a:pPr algn="just"/>
            <a:r>
              <a:rPr lang="en-GB" sz="3500" i="1" dirty="0">
                <a:solidFill>
                  <a:srgbClr val="00B050"/>
                </a:solidFill>
              </a:rPr>
              <a:t>Good research is empirical: </a:t>
            </a:r>
            <a:r>
              <a:rPr lang="en-GB" sz="3500" dirty="0"/>
              <a:t>It implies that research is related basically to one or more aspects of a real situation and deals with concrete data that provides a basis for external validity to research results.</a:t>
            </a:r>
          </a:p>
          <a:p>
            <a:pPr algn="just"/>
            <a:r>
              <a:rPr lang="en-GB" sz="3600" i="1" dirty="0">
                <a:solidFill>
                  <a:srgbClr val="00B050"/>
                </a:solidFill>
              </a:rPr>
              <a:t>Good research is replicable: </a:t>
            </a:r>
            <a:r>
              <a:rPr lang="en-GB" sz="3600" dirty="0"/>
              <a:t>This characteristic allows research results to be verified by replicating the study and thereby building a sound basis for decisions.</a:t>
            </a:r>
            <a:endParaRPr lang="en-GB" sz="3500" dirty="0"/>
          </a:p>
        </p:txBody>
      </p:sp>
      <p:sp>
        <p:nvSpPr>
          <p:cNvPr id="4" name="Date Placeholder 3"/>
          <p:cNvSpPr>
            <a:spLocks noGrp="1"/>
          </p:cNvSpPr>
          <p:nvPr>
            <p:ph type="dt" sz="half" idx="10"/>
          </p:nvPr>
        </p:nvSpPr>
        <p:spPr/>
        <p:txBody>
          <a:bodyPr/>
          <a:lstStyle/>
          <a:p>
            <a:fld id="{97B024FB-69E7-4443-8894-FE01029D75E8}" type="datetime1">
              <a:rPr lang="en-US" smtClean="0"/>
              <a:t>8/19/2025</a:t>
            </a:fld>
            <a:endParaRPr lang="en-US"/>
          </a:p>
        </p:txBody>
      </p:sp>
      <p:sp>
        <p:nvSpPr>
          <p:cNvPr id="6" name="Slide Number Placeholder 5"/>
          <p:cNvSpPr>
            <a:spLocks noGrp="1"/>
          </p:cNvSpPr>
          <p:nvPr>
            <p:ph type="sldNum" sz="quarter" idx="12"/>
          </p:nvPr>
        </p:nvSpPr>
        <p:spPr/>
        <p:txBody>
          <a:bodyPr/>
          <a:lstStyle/>
          <a:p>
            <a:fld id="{42D34AAC-4D14-488D-93FC-3177E9299FB4}" type="slidenum">
              <a:rPr lang="en-US" smtClean="0"/>
              <a:pPr/>
              <a:t>23</a:t>
            </a:fld>
            <a:endParaRPr lang="en-US"/>
          </a:p>
        </p:txBody>
      </p:sp>
    </p:spTree>
    <p:extLst>
      <p:ext uri="{BB962C8B-B14F-4D97-AF65-F5344CB8AC3E}">
        <p14:creationId xmlns:p14="http://schemas.microsoft.com/office/powerpoint/2010/main" val="2370140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2956" y="3232588"/>
            <a:ext cx="8911687" cy="1280890"/>
          </a:xfrm>
        </p:spPr>
        <p:txBody>
          <a:bodyPr/>
          <a:lstStyle/>
          <a:p>
            <a:pPr algn="ctr"/>
            <a:r>
              <a:rPr lang="en-US" dirty="0"/>
              <a:t>Thank you</a:t>
            </a:r>
          </a:p>
        </p:txBody>
      </p:sp>
      <p:sp>
        <p:nvSpPr>
          <p:cNvPr id="4" name="Date Placeholder 3"/>
          <p:cNvSpPr>
            <a:spLocks noGrp="1"/>
          </p:cNvSpPr>
          <p:nvPr>
            <p:ph type="dt" sz="half" idx="10"/>
          </p:nvPr>
        </p:nvSpPr>
        <p:spPr/>
        <p:txBody>
          <a:bodyPr/>
          <a:lstStyle/>
          <a:p>
            <a:fld id="{C824AC5D-23EB-4C10-AF48-B4CC78E11D0E}" type="datetime1">
              <a:rPr lang="en-US" smtClean="0"/>
              <a:t>8/19/2025</a:t>
            </a:fld>
            <a:endParaRPr lang="en-US"/>
          </a:p>
        </p:txBody>
      </p:sp>
      <p:sp>
        <p:nvSpPr>
          <p:cNvPr id="5" name="Slide Number Placeholder 4"/>
          <p:cNvSpPr>
            <a:spLocks noGrp="1"/>
          </p:cNvSpPr>
          <p:nvPr>
            <p:ph type="sldNum" sz="quarter" idx="12"/>
          </p:nvPr>
        </p:nvSpPr>
        <p:spPr/>
        <p:txBody>
          <a:bodyPr/>
          <a:lstStyle/>
          <a:p>
            <a:fld id="{42D34AAC-4D14-488D-93FC-3177E9299FB4}" type="slidenum">
              <a:rPr lang="en-US" smtClean="0"/>
              <a:pPr/>
              <a:t>24</a:t>
            </a:fld>
            <a:endParaRPr lang="en-US"/>
          </a:p>
        </p:txBody>
      </p:sp>
    </p:spTree>
    <p:extLst>
      <p:ext uri="{BB962C8B-B14F-4D97-AF65-F5344CB8AC3E}">
        <p14:creationId xmlns:p14="http://schemas.microsoft.com/office/powerpoint/2010/main" val="773882449"/>
      </p:ext>
    </p:extLst>
  </p:cSld>
  <p:clrMapOvr>
    <a:masterClrMapping/>
  </p:clrMapOvr>
</p:sld>
</file>

<file path=ppt/theme/theme1.xml><?xml version="1.0" encoding="utf-8"?>
<a:theme xmlns:a="http://schemas.openxmlformats.org/drawingml/2006/main" name="Theme kab">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heme kab" id="{EF71EAF8-9FA8-4EF9-9A83-0B998A7FB3B4}" vid="{1AB0084C-10B3-48EB-BD8E-77DD7FAF01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 kab</Template>
  <TotalTime>7671</TotalTime>
  <Words>1135</Words>
  <Application>Microsoft Office PowerPoint</Application>
  <PresentationFormat>Widescreen</PresentationFormat>
  <Paragraphs>138</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 3</vt:lpstr>
      <vt:lpstr>Theme kab</vt:lpstr>
      <vt:lpstr>Research methodology  </vt:lpstr>
      <vt:lpstr>Course Objectives </vt:lpstr>
      <vt:lpstr>Overview</vt:lpstr>
      <vt:lpstr>Overview of research.</vt:lpstr>
      <vt:lpstr>Overview of research  cont’ </vt:lpstr>
      <vt:lpstr>Overview of research Cont’</vt:lpstr>
      <vt:lpstr>Why Research?</vt:lpstr>
      <vt:lpstr>Objectives of Research</vt:lpstr>
      <vt:lpstr>Motivation in Research </vt:lpstr>
      <vt:lpstr>Types of Research </vt:lpstr>
      <vt:lpstr>Cont’</vt:lpstr>
      <vt:lpstr>APPLIED VS FUNDAMENTAL</vt:lpstr>
      <vt:lpstr>Applied Vs Fundamental…..</vt:lpstr>
      <vt:lpstr>Quantitative Vs Qualitative Research </vt:lpstr>
      <vt:lpstr>RESEARCH APPROACHES</vt:lpstr>
      <vt:lpstr>RESEARCH PROCESS</vt:lpstr>
      <vt:lpstr>The Research Process</vt:lpstr>
      <vt:lpstr>CRITERIA OF GOOD RESEARCH</vt:lpstr>
      <vt:lpstr>PowerPoint Presentation</vt:lpstr>
      <vt:lpstr>PowerPoint Presentation</vt:lpstr>
      <vt:lpstr>Qualities of a good research</vt:lpstr>
      <vt:lpstr>Contd…</vt:lpstr>
      <vt:lpstr>Contd…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Methods- Introduction</dc:title>
  <dc:creator>User</dc:creator>
  <cp:lastModifiedBy>HP</cp:lastModifiedBy>
  <cp:revision>72</cp:revision>
  <dcterms:created xsi:type="dcterms:W3CDTF">2017-01-19T12:54:38Z</dcterms:created>
  <dcterms:modified xsi:type="dcterms:W3CDTF">2025-08-20T22:44:23Z</dcterms:modified>
</cp:coreProperties>
</file>