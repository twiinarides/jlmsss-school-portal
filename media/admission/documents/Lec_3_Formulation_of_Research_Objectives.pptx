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  <p:sldMasterId id="2147483786" r:id="rId2"/>
  </p:sldMasterIdLst>
  <p:notesMasterIdLst>
    <p:notesMasterId r:id="rId46"/>
  </p:notesMasterIdLst>
  <p:sldIdLst>
    <p:sldId id="416" r:id="rId3"/>
    <p:sldId id="332" r:id="rId4"/>
    <p:sldId id="334" r:id="rId5"/>
    <p:sldId id="336" r:id="rId6"/>
    <p:sldId id="418" r:id="rId7"/>
    <p:sldId id="338" r:id="rId8"/>
    <p:sldId id="344" r:id="rId9"/>
    <p:sldId id="340" r:id="rId10"/>
    <p:sldId id="341" r:id="rId11"/>
    <p:sldId id="345" r:id="rId12"/>
    <p:sldId id="289" r:id="rId13"/>
    <p:sldId id="290" r:id="rId14"/>
    <p:sldId id="291" r:id="rId15"/>
    <p:sldId id="292" r:id="rId16"/>
    <p:sldId id="346" r:id="rId17"/>
    <p:sldId id="293" r:id="rId18"/>
    <p:sldId id="294" r:id="rId19"/>
    <p:sldId id="383" r:id="rId20"/>
    <p:sldId id="384" r:id="rId21"/>
    <p:sldId id="296" r:id="rId22"/>
    <p:sldId id="297" r:id="rId23"/>
    <p:sldId id="298" r:id="rId24"/>
    <p:sldId id="299" r:id="rId25"/>
    <p:sldId id="300" r:id="rId26"/>
    <p:sldId id="301" r:id="rId27"/>
    <p:sldId id="302" r:id="rId28"/>
    <p:sldId id="304" r:id="rId29"/>
    <p:sldId id="306" r:id="rId30"/>
    <p:sldId id="309" r:id="rId31"/>
    <p:sldId id="310" r:id="rId32"/>
    <p:sldId id="311" r:id="rId33"/>
    <p:sldId id="312" r:id="rId34"/>
    <p:sldId id="313" r:id="rId35"/>
    <p:sldId id="314" r:id="rId36"/>
    <p:sldId id="347" r:id="rId37"/>
    <p:sldId id="350" r:id="rId38"/>
    <p:sldId id="349" r:id="rId39"/>
    <p:sldId id="354" r:id="rId40"/>
    <p:sldId id="355" r:id="rId41"/>
    <p:sldId id="352" r:id="rId42"/>
    <p:sldId id="353" r:id="rId43"/>
    <p:sldId id="356" r:id="rId44"/>
    <p:sldId id="417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32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E40BF-0645-43F9-8DCE-976D930F212A}" type="datetimeFigureOut">
              <a:rPr lang="en-GB" smtClean="0"/>
              <a:t>09/09/2025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069C45-5215-43C3-82BF-E227B496C34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1331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80974C-2DEF-4F03-B42C-2263D3240061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09669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51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672942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1424" y="3789040"/>
            <a:ext cx="8534400" cy="1752600"/>
          </a:xfrm>
        </p:spPr>
        <p:txBody>
          <a:bodyPr/>
          <a:lstStyle>
            <a:lvl1pPr marL="0" indent="0" algn="l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C46825-8AFE-4B5B-9946-04A367A7B020}" type="datetime1">
              <a:rPr lang="en-US" smtClean="0">
                <a:solidFill>
                  <a:srgbClr val="000000"/>
                </a:solidFill>
              </a:rPr>
              <a:t>9/9/2025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561CA9-04A8-4BD7-B627-E83BAC5224B7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8" name="Picture 5"/>
          <p:cNvPicPr>
            <a:picLocks noChangeAspect="1" noChangeArrowheads="1"/>
          </p:cNvPicPr>
          <p:nvPr userDrawn="1"/>
        </p:nvPicPr>
        <p:blipFill>
          <a:blip r:embed="rId2" cstate="print"/>
          <a:srcRect l="1303" t="21977" r="80197" b="66907"/>
          <a:stretch>
            <a:fillRect/>
          </a:stretch>
        </p:blipFill>
        <p:spPr bwMode="auto">
          <a:xfrm>
            <a:off x="38101" y="0"/>
            <a:ext cx="2688167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4919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5522F3-DFFB-4A60-9AB3-0E9953CC4D9F}" type="datetime1">
              <a:rPr lang="en-US" smtClean="0">
                <a:solidFill>
                  <a:srgbClr val="000000"/>
                </a:solidFill>
              </a:rPr>
              <a:t>9/9/2025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DCCB6B-980D-4BAE-BF17-F852895AEBD1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9" name="Picture 5"/>
          <p:cNvPicPr>
            <a:picLocks noChangeAspect="1" noChangeArrowheads="1"/>
          </p:cNvPicPr>
          <p:nvPr userDrawn="1"/>
        </p:nvPicPr>
        <p:blipFill>
          <a:blip r:embed="rId2" cstate="print"/>
          <a:srcRect l="1303" t="21977" r="80197" b="66907"/>
          <a:stretch>
            <a:fillRect/>
          </a:stretch>
        </p:blipFill>
        <p:spPr bwMode="auto">
          <a:xfrm>
            <a:off x="38101" y="0"/>
            <a:ext cx="2688167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25881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0999" y="1600201"/>
            <a:ext cx="8991600" cy="2836614"/>
          </a:xfrm>
        </p:spPr>
        <p:txBody>
          <a:bodyPr anchor="b">
            <a:normAutofit/>
          </a:bodyPr>
          <a:lstStyle>
            <a:lvl1pPr>
              <a:defRPr sz="303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1" y="4549816"/>
            <a:ext cx="8915399" cy="1353851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767F7-9CF2-4A91-A421-AFDE6B36AF2E}" type="datetime1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2" y="4323814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5" y="4529544"/>
            <a:ext cx="779767" cy="365125"/>
          </a:xfrm>
          <a:prstGeom prst="rect">
            <a:avLst/>
          </a:prstGeom>
        </p:spPr>
        <p:txBody>
          <a:bodyPr/>
          <a:lstStyle/>
          <a:p>
            <a:fld id="{42D34AAC-4D14-488D-93FC-3177E9299FB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37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6771" y="304800"/>
            <a:ext cx="8911687" cy="91332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4521" y="1627706"/>
            <a:ext cx="8953937" cy="41634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2E3E1-5490-4DF4-930A-A005B62AD765}" type="datetime1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5" y="787785"/>
            <a:ext cx="779767" cy="365125"/>
          </a:xfrm>
          <a:prstGeom prst="rect">
            <a:avLst/>
          </a:prstGeom>
        </p:spPr>
        <p:txBody>
          <a:bodyPr/>
          <a:lstStyle/>
          <a:p>
            <a:fld id="{42D34AAC-4D14-488D-93FC-3177E9299FB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017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92" y="1796363"/>
            <a:ext cx="8915399" cy="1468800"/>
          </a:xfrm>
        </p:spPr>
        <p:txBody>
          <a:bodyPr anchor="b"/>
          <a:lstStyle>
            <a:lvl1pPr algn="l">
              <a:defRPr sz="22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92292" y="3685475"/>
            <a:ext cx="8915399" cy="860400"/>
          </a:xfrm>
        </p:spPr>
        <p:txBody>
          <a:bodyPr anchor="t"/>
          <a:lstStyle>
            <a:lvl1pPr marL="0" indent="0" algn="l">
              <a:buNone/>
              <a:defRPr sz="11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EF8A3-E7E8-47B6-B4F6-FB50B6F55536}" type="datetime1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8" y="3178178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5" y="3244143"/>
            <a:ext cx="779767" cy="365125"/>
          </a:xfrm>
          <a:prstGeom prst="rect">
            <a:avLst/>
          </a:prstGeom>
        </p:spPr>
        <p:txBody>
          <a:bodyPr/>
          <a:lstStyle/>
          <a:p>
            <a:fld id="{42D34AAC-4D14-488D-93FC-3177E9299FB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kabale university new logo2">
            <a:extLst>
              <a:ext uri="{FF2B5EF4-FFF2-40B4-BE49-F238E27FC236}">
                <a16:creationId xmlns:a16="http://schemas.microsoft.com/office/drawing/2014/main" id="{03BC4E29-592B-48D9-9E9B-54B3E00546E6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07691" y="16805"/>
            <a:ext cx="1467804" cy="1289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21616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22400" y="1912378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23935" y="19050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F5F9E-2B51-4FE1-BD1A-BAB175AC859E}" type="datetime1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5" y="787785"/>
            <a:ext cx="779767" cy="365125"/>
          </a:xfrm>
          <a:prstGeom prst="rect">
            <a:avLst/>
          </a:prstGeom>
        </p:spPr>
        <p:txBody>
          <a:bodyPr/>
          <a:lstStyle/>
          <a:p>
            <a:fld id="{42D34AAC-4D14-488D-93FC-3177E9299FB4}" type="slidenum">
              <a:rPr lang="en-US" smtClean="0"/>
              <a:pPr/>
              <a:t>‹#›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85D1ACC-A3A1-448F-8E0F-91F8905637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4982605"/>
              </p:ext>
            </p:extLst>
          </p:nvPr>
        </p:nvGraphicFramePr>
        <p:xfrm>
          <a:off x="1315907" y="8406"/>
          <a:ext cx="10859588" cy="13062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859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0628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2" name="Picture 11" descr="kabale university new logo2">
            <a:extLst>
              <a:ext uri="{FF2B5EF4-FFF2-40B4-BE49-F238E27FC236}">
                <a16:creationId xmlns:a16="http://schemas.microsoft.com/office/drawing/2014/main" id="{FE130AFE-F41A-42E9-8085-412385931114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07691" y="16805"/>
            <a:ext cx="1467804" cy="1289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81399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4163" y="1755828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1350" b="0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4000" y="2332091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1420" y="1752600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1350" b="0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01745" y="2328863"/>
            <a:ext cx="4338675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34A8E-4187-4362-ADFF-51940A1DEA90}" type="datetime1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5" y="787785"/>
            <a:ext cx="779767" cy="365125"/>
          </a:xfrm>
          <a:prstGeom prst="rect">
            <a:avLst/>
          </a:prstGeom>
        </p:spPr>
        <p:txBody>
          <a:bodyPr/>
          <a:lstStyle/>
          <a:p>
            <a:fld id="{42D34AAC-4D14-488D-93FC-3177E9299FB4}" type="slidenum">
              <a:rPr lang="en-US" smtClean="0"/>
              <a:pPr/>
              <a:t>‹#›</a:t>
            </a:fld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5E65879-AA54-4BDE-882A-0D417FF511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586212"/>
              </p:ext>
            </p:extLst>
          </p:nvPr>
        </p:nvGraphicFramePr>
        <p:xfrm>
          <a:off x="1315907" y="8406"/>
          <a:ext cx="10859588" cy="13062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859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0628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4" name="Picture 13" descr="kabale university new logo2">
            <a:extLst>
              <a:ext uri="{FF2B5EF4-FFF2-40B4-BE49-F238E27FC236}">
                <a16:creationId xmlns:a16="http://schemas.microsoft.com/office/drawing/2014/main" id="{E6F897A1-2E2B-4159-B97D-9496846B59DD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07691" y="16805"/>
            <a:ext cx="1467804" cy="1289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73883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550E2-B7AE-4AC3-A982-EC035156C603}" type="datetime1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31815" y="787785"/>
            <a:ext cx="779767" cy="365125"/>
          </a:xfrm>
          <a:prstGeom prst="rect">
            <a:avLst/>
          </a:prstGeom>
        </p:spPr>
        <p:txBody>
          <a:bodyPr/>
          <a:lstStyle/>
          <a:p>
            <a:fld id="{42D34AAC-4D14-488D-93FC-3177E9299FB4}" type="slidenum">
              <a:rPr lang="en-US" smtClean="0"/>
              <a:pPr/>
              <a:t>‹#›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1F9773A-3301-4F9D-A56C-399A8BE98F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351169"/>
              </p:ext>
            </p:extLst>
          </p:nvPr>
        </p:nvGraphicFramePr>
        <p:xfrm>
          <a:off x="1315907" y="8406"/>
          <a:ext cx="10859588" cy="13062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859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0628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9" name="Picture 8" descr="kabale university new logo2">
            <a:extLst>
              <a:ext uri="{FF2B5EF4-FFF2-40B4-BE49-F238E27FC236}">
                <a16:creationId xmlns:a16="http://schemas.microsoft.com/office/drawing/2014/main" id="{015F235D-9B53-4B87-883F-7C1238FDACE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07691" y="16805"/>
            <a:ext cx="1467804" cy="1289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22422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78B1D-DFCB-4AC2-A9DB-69A9CBBBFA7D}" type="datetime1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31815" y="787785"/>
            <a:ext cx="779767" cy="365125"/>
          </a:xfrm>
          <a:prstGeom prst="rect">
            <a:avLst/>
          </a:prstGeom>
        </p:spPr>
        <p:txBody>
          <a:bodyPr/>
          <a:lstStyle/>
          <a:p>
            <a:fld id="{42D34AAC-4D14-488D-93FC-3177E9299FB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584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2" y="1490295"/>
            <a:ext cx="3505199" cy="795705"/>
          </a:xfrm>
        </p:spPr>
        <p:txBody>
          <a:bodyPr anchor="b"/>
          <a:lstStyle>
            <a:lvl1pPr algn="l">
              <a:defRPr sz="112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3343" y="1447800"/>
            <a:ext cx="5181600" cy="4413254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9546" y="2387117"/>
            <a:ext cx="3505199" cy="3473932"/>
          </a:xfrm>
        </p:spPr>
        <p:txBody>
          <a:bodyPr/>
          <a:lstStyle>
            <a:lvl1pPr marL="0" indent="0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84B43-D16E-4F17-8009-C2FCECC2539C}" type="datetime1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5" y="787785"/>
            <a:ext cx="779767" cy="365125"/>
          </a:xfrm>
          <a:prstGeom prst="rect">
            <a:avLst/>
          </a:prstGeom>
        </p:spPr>
        <p:txBody>
          <a:bodyPr/>
          <a:lstStyle/>
          <a:p>
            <a:fld id="{42D34AAC-4D14-488D-93FC-3177E9299FB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399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9400" y="4959350"/>
            <a:ext cx="8915400" cy="566738"/>
          </a:xfrm>
        </p:spPr>
        <p:txBody>
          <a:bodyPr anchor="b">
            <a:normAutofit/>
          </a:bodyPr>
          <a:lstStyle>
            <a:lvl1pPr algn="l">
              <a:defRPr sz="135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49399" y="1482514"/>
            <a:ext cx="8915400" cy="3400636"/>
          </a:xfrm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49400" y="552608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675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BEE16-BF4A-43CB-BFAF-1339D3F2B6F5}" type="datetime1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8" y="491172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5" y="4983091"/>
            <a:ext cx="779767" cy="365125"/>
          </a:xfrm>
          <a:prstGeom prst="rect">
            <a:avLst/>
          </a:prstGeom>
        </p:spPr>
        <p:txBody>
          <a:bodyPr/>
          <a:lstStyle/>
          <a:p>
            <a:fld id="{42D34AAC-4D14-488D-93FC-3177E9299FB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234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1" y="1219200"/>
            <a:ext cx="8915399" cy="3117040"/>
          </a:xfrm>
        </p:spPr>
        <p:txBody>
          <a:bodyPr anchor="ctr">
            <a:normAutofit/>
          </a:bodyPr>
          <a:lstStyle>
            <a:lvl1pPr algn="l">
              <a:defRPr sz="27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601" y="446393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01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8D12-F5DC-4AB0-B196-934663B90A73}" type="datetime1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8" y="3178178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5" y="3244143"/>
            <a:ext cx="779767" cy="365125"/>
          </a:xfrm>
          <a:prstGeom prst="rect">
            <a:avLst/>
          </a:prstGeom>
        </p:spPr>
        <p:txBody>
          <a:bodyPr/>
          <a:lstStyle/>
          <a:p>
            <a:fld id="{42D34AAC-4D14-488D-93FC-3177E9299FB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9743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6337" y="1353317"/>
            <a:ext cx="8393927" cy="2685283"/>
          </a:xfrm>
        </p:spPr>
        <p:txBody>
          <a:bodyPr anchor="ctr">
            <a:normAutofit/>
          </a:bodyPr>
          <a:lstStyle>
            <a:lvl1pPr algn="l">
              <a:defRPr sz="27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311399" y="4038600"/>
            <a:ext cx="7536555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57175" indent="0">
              <a:buFontTx/>
              <a:buNone/>
              <a:defRPr/>
            </a:lvl2pPr>
            <a:lvl3pPr marL="514350" indent="0">
              <a:buFontTx/>
              <a:buNone/>
              <a:defRPr/>
            </a:lvl3pPr>
            <a:lvl4pPr marL="771525" indent="0">
              <a:buFontTx/>
              <a:buNone/>
              <a:defRPr/>
            </a:lvl4pPr>
            <a:lvl5pPr marL="10287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601" y="454013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01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5C1E4-6D36-4951-855A-F0F1E4DC45DD}" type="datetime1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8" y="3178178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5" y="3244143"/>
            <a:ext cx="779767" cy="365125"/>
          </a:xfrm>
          <a:prstGeom prst="rect">
            <a:avLst/>
          </a:prstGeom>
        </p:spPr>
        <p:txBody>
          <a:bodyPr/>
          <a:lstStyle/>
          <a:p>
            <a:fld id="{42D34AAC-4D14-488D-93FC-3177E9299FB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/>
          <a:p>
            <a:pPr lvl="0"/>
            <a:r>
              <a:rPr lang="en-US" sz="45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/>
          <a:p>
            <a:pPr lvl="0"/>
            <a:r>
              <a:rPr lang="en-US" sz="45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922333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676400"/>
            <a:ext cx="8915400" cy="3410648"/>
          </a:xfrm>
        </p:spPr>
        <p:txBody>
          <a:bodyPr anchor="b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4000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E539296-98C4-47A1-A498-EE0A59C5D2EF}" type="datetime1">
              <a:rPr lang="en-US" smtClean="0">
                <a:solidFill>
                  <a:srgbClr val="000000"/>
                </a:solidFill>
                <a:latin typeface="Verdana" pitchFamily="34" charset="0"/>
              </a:rPr>
              <a:t>9/9/2025</a:t>
            </a:fld>
            <a:endParaRPr lang="en-US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8" y="491172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5" y="4983091"/>
            <a:ext cx="779767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F3EF4E-79C2-4E29-A67E-7B1292B73D71}" type="slidenum">
              <a:rPr lang="en-US" smtClean="0">
                <a:solidFill>
                  <a:srgbClr val="000000"/>
                </a:solidFill>
                <a:latin typeface="Verdana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000000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3808663"/>
      </p:ext>
    </p:extLst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1784739" y="1371600"/>
            <a:ext cx="8393927" cy="2133600"/>
          </a:xfrm>
        </p:spPr>
        <p:txBody>
          <a:bodyPr anchor="ctr">
            <a:normAutofit/>
          </a:bodyPr>
          <a:lstStyle>
            <a:lvl1pPr algn="l">
              <a:defRPr sz="27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24000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350">
                <a:solidFill>
                  <a:schemeClr val="accent1"/>
                </a:solidFill>
              </a:defRPr>
            </a:lvl1pPr>
            <a:lvl2pPr marL="257175" indent="0">
              <a:buFontTx/>
              <a:buNone/>
              <a:defRPr/>
            </a:lvl2pPr>
            <a:lvl3pPr marL="514350" indent="0">
              <a:buFontTx/>
              <a:buNone/>
              <a:defRPr/>
            </a:lvl3pPr>
            <a:lvl4pPr marL="771525" indent="0">
              <a:buFontTx/>
              <a:buNone/>
              <a:defRPr/>
            </a:lvl4pPr>
            <a:lvl5pPr marL="10287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4001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E539296-98C4-47A1-A498-EE0A59C5D2EF}" type="datetime1">
              <a:rPr lang="en-US" smtClean="0">
                <a:solidFill>
                  <a:srgbClr val="000000"/>
                </a:solidFill>
                <a:latin typeface="Verdana" pitchFamily="34" charset="0"/>
              </a:rPr>
              <a:t>9/9/2025</a:t>
            </a:fld>
            <a:endParaRPr lang="en-US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8" y="491172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5" y="4983091"/>
            <a:ext cx="779767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F3EF4E-79C2-4E29-A67E-7B1292B73D71}" type="slidenum">
              <a:rPr lang="en-US" smtClean="0">
                <a:solidFill>
                  <a:srgbClr val="000000"/>
                </a:solidFill>
                <a:latin typeface="Verdana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/>
          <a:p>
            <a:pPr lvl="0"/>
            <a:r>
              <a:rPr lang="en-US" sz="45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/>
          <a:p>
            <a:pPr lvl="0"/>
            <a:r>
              <a:rPr lang="en-US" sz="45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09833260"/>
      </p:ext>
    </p:extLst>
  </p:cSld>
  <p:clrMapOvr>
    <a:masterClrMapping/>
  </p:clrMapOvr>
  <p:hf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3" y="1371600"/>
            <a:ext cx="8915399" cy="2135827"/>
          </a:xfrm>
        </p:spPr>
        <p:txBody>
          <a:bodyPr anchor="ctr">
            <a:normAutofit/>
          </a:bodyPr>
          <a:lstStyle>
            <a:lvl1pPr algn="l">
              <a:defRPr sz="27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25600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350">
                <a:solidFill>
                  <a:schemeClr val="accent1"/>
                </a:solidFill>
              </a:defRPr>
            </a:lvl1pPr>
            <a:lvl2pPr marL="257175" indent="0">
              <a:buFontTx/>
              <a:buNone/>
              <a:defRPr/>
            </a:lvl2pPr>
            <a:lvl3pPr marL="514350" indent="0">
              <a:buFontTx/>
              <a:buNone/>
              <a:defRPr/>
            </a:lvl3pPr>
            <a:lvl4pPr marL="771525" indent="0">
              <a:buFontTx/>
              <a:buNone/>
              <a:defRPr/>
            </a:lvl4pPr>
            <a:lvl5pPr marL="10287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25601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E539296-98C4-47A1-A498-EE0A59C5D2EF}" type="datetime1">
              <a:rPr lang="en-US" smtClean="0">
                <a:solidFill>
                  <a:srgbClr val="000000"/>
                </a:solidFill>
                <a:latin typeface="Verdana" pitchFamily="34" charset="0"/>
              </a:rPr>
              <a:t>9/9/2025</a:t>
            </a:fld>
            <a:endParaRPr lang="en-US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8" y="491172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5" y="4983091"/>
            <a:ext cx="779767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CF3EF4E-79C2-4E29-A67E-7B1292B73D71}" type="slidenum">
              <a:rPr lang="en-US" smtClean="0">
                <a:solidFill>
                  <a:srgbClr val="000000"/>
                </a:solidFill>
                <a:latin typeface="Verdana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000000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879436"/>
      </p:ext>
    </p:extLst>
  </p:cSld>
  <p:clrMapOvr>
    <a:masterClrMapping/>
  </p:clrMapOvr>
  <p:hf hdr="0" ft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2AA1-45E7-42E4-BF0D-A128F88B908C}" type="datetime1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5" y="787785"/>
            <a:ext cx="779767" cy="365125"/>
          </a:xfrm>
          <a:prstGeom prst="rect">
            <a:avLst/>
          </a:prstGeom>
        </p:spPr>
        <p:txBody>
          <a:bodyPr/>
          <a:lstStyle/>
          <a:p>
            <a:fld id="{42D34AAC-4D14-488D-93FC-3177E9299FB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4031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4" y="627409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9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5E929C-9F3E-45D6-8023-05A8D95973FD}" type="datetime1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5" y="787785"/>
            <a:ext cx="779767" cy="365125"/>
          </a:xfrm>
          <a:prstGeom prst="rect">
            <a:avLst/>
          </a:prstGeom>
        </p:spPr>
        <p:txBody>
          <a:bodyPr/>
          <a:lstStyle/>
          <a:p>
            <a:fld id="{42D34AAC-4D14-488D-93FC-3177E9299FB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2014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04903"/>
            <a:ext cx="9245597" cy="60949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06400" y="1257731"/>
            <a:ext cx="5638800" cy="51430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248400" y="1257732"/>
            <a:ext cx="5638800" cy="25522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248400" y="3848531"/>
            <a:ext cx="5638800" cy="25522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E539296-98C4-47A1-A498-EE0A59C5D2EF}" type="datetime1">
              <a:rPr lang="en-US" smtClean="0">
                <a:solidFill>
                  <a:srgbClr val="000000"/>
                </a:solidFill>
                <a:latin typeface="Verdana" pitchFamily="34" charset="0"/>
              </a:rPr>
              <a:t>9/9/2025</a:t>
            </a:fld>
            <a:endParaRPr lang="en-US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CF3EF4E-79C2-4E29-A67E-7B1292B73D71}" type="slidenum">
              <a:rPr lang="en-US" smtClean="0">
                <a:solidFill>
                  <a:srgbClr val="000000"/>
                </a:solidFill>
                <a:latin typeface="Verdana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000000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253885"/>
      </p:ext>
    </p:extLst>
  </p:cSld>
  <p:clrMapOvr>
    <a:masterClrMapping/>
  </p:clrMapOvr>
  <p:hf hdr="0" ft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04800"/>
            <a:ext cx="9245597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06400" y="1371600"/>
            <a:ext cx="56388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371600"/>
            <a:ext cx="56388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E539296-98C4-47A1-A498-EE0A59C5D2EF}" type="datetime1">
              <a:rPr lang="en-US" smtClean="0">
                <a:solidFill>
                  <a:srgbClr val="000000"/>
                </a:solidFill>
                <a:latin typeface="Verdana" pitchFamily="34" charset="0"/>
              </a:rPr>
              <a:t>9/9/2025</a:t>
            </a:fld>
            <a:endParaRPr lang="en-US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CF3EF4E-79C2-4E29-A67E-7B1292B73D71}" type="slidenum">
              <a:rPr lang="en-US" smtClean="0">
                <a:solidFill>
                  <a:srgbClr val="000000"/>
                </a:solidFill>
                <a:latin typeface="Verdana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000000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610099"/>
      </p:ext>
    </p:extLst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image" Target="../media/image2.jpeg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27381" y="90759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7381" y="2276873"/>
            <a:ext cx="11055019" cy="3849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737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E539296-98C4-47A1-A498-EE0A59C5D2EF}" type="datetime1">
              <a:rPr lang="en-US" smtClean="0">
                <a:solidFill>
                  <a:srgbClr val="000000"/>
                </a:solidFill>
                <a:latin typeface="Verdana" pitchFamily="34" charset="0"/>
              </a:rPr>
              <a:t>9/9/2025</a:t>
            </a:fld>
            <a:endParaRPr lang="en-US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3737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3737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CF3EF4E-79C2-4E29-A67E-7B1292B73D71}" type="slidenum">
              <a:rPr lang="en-US">
                <a:solidFill>
                  <a:srgbClr val="000000"/>
                </a:solidFill>
                <a:latin typeface="Verdana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000000"/>
              </a:solidFill>
              <a:latin typeface="Verdana" pitchFamily="34" charset="0"/>
            </a:endParaRPr>
          </a:p>
        </p:txBody>
      </p:sp>
      <p:pic>
        <p:nvPicPr>
          <p:cNvPr id="9" name="Picture 5"/>
          <p:cNvPicPr>
            <a:picLocks noChangeAspect="1" noChangeArrowheads="1"/>
          </p:cNvPicPr>
          <p:nvPr userDrawn="1"/>
        </p:nvPicPr>
        <p:blipFill>
          <a:blip r:embed="rId4" cstate="print"/>
          <a:srcRect l="1303" t="21977" r="80197" b="66907"/>
          <a:stretch>
            <a:fillRect/>
          </a:stretch>
        </p:blipFill>
        <p:spPr bwMode="auto">
          <a:xfrm>
            <a:off x="38101" y="0"/>
            <a:ext cx="2688167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14419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8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80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80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80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800080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800080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800080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800080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800080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4" y="219372"/>
            <a:ext cx="1782025" cy="6638628"/>
            <a:chOff x="2487613" y="285750"/>
            <a:chExt cx="2428875" cy="5654676"/>
          </a:xfrm>
          <a:solidFill>
            <a:schemeClr val="accent1"/>
          </a:solidFill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 w="28575">
              <a:solidFill>
                <a:schemeClr val="accent1"/>
              </a:solidFill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 w="28575">
              <a:solidFill>
                <a:schemeClr val="accent1"/>
              </a:solidFill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 w="28575">
              <a:solidFill>
                <a:schemeClr val="accent1"/>
              </a:solidFill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 w="28575">
              <a:solidFill>
                <a:schemeClr val="accent1"/>
              </a:solidFill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 w="28575">
              <a:solidFill>
                <a:schemeClr val="accent1"/>
              </a:solidFill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 w="28575">
              <a:solidFill>
                <a:schemeClr val="accent1"/>
              </a:solidFill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 w="28575">
              <a:solidFill>
                <a:schemeClr val="accent1"/>
              </a:solidFill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 w="28575">
              <a:solidFill>
                <a:schemeClr val="accent1"/>
              </a:solidFill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 w="28575">
              <a:solidFill>
                <a:schemeClr val="accent1"/>
              </a:solidFill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 w="28575">
              <a:solidFill>
                <a:schemeClr val="accent1"/>
              </a:solidFill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 w="28575">
              <a:solidFill>
                <a:schemeClr val="accent1"/>
              </a:solidFill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 w="28575">
              <a:solidFill>
                <a:schemeClr val="accent1"/>
              </a:solidFill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2" y="-786"/>
            <a:ext cx="1609097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19050">
              <a:solidFill>
                <a:srgbClr val="0070C0"/>
              </a:solidFill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19050">
              <a:solidFill>
                <a:srgbClr val="0070C0"/>
              </a:solidFill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19050">
              <a:solidFill>
                <a:srgbClr val="0070C0"/>
              </a:solidFill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19050">
              <a:solidFill>
                <a:srgbClr val="0070C0"/>
              </a:solidFill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19050">
              <a:solidFill>
                <a:srgbClr val="0070C0"/>
              </a:solidFill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19050">
              <a:solidFill>
                <a:srgbClr val="0070C0"/>
              </a:solidFill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19050">
              <a:solidFill>
                <a:srgbClr val="0070C0"/>
              </a:solidFill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19050">
              <a:solidFill>
                <a:srgbClr val="0070C0"/>
              </a:solidFill>
            </a:ln>
          </p:spPr>
          <p:txBody>
            <a:bodyPr/>
            <a:lstStyle/>
            <a:p>
              <a:endParaRPr lang="en-US" sz="2200" dirty="0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19050">
              <a:solidFill>
                <a:srgbClr val="0070C0"/>
              </a:solidFill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19050">
              <a:solidFill>
                <a:srgbClr val="0070C0"/>
              </a:solidFill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19050">
              <a:solidFill>
                <a:srgbClr val="0070C0"/>
              </a:solidFill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19050">
              <a:solidFill>
                <a:srgbClr val="0070C0"/>
              </a:solidFill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25601" y="166910"/>
            <a:ext cx="8792639" cy="10522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515" y="1828800"/>
            <a:ext cx="9121884" cy="4243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16917" y="6187971"/>
            <a:ext cx="1349481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E539296-98C4-47A1-A498-EE0A59C5D2EF}" type="datetime1">
              <a:rPr lang="en-US" smtClean="0">
                <a:solidFill>
                  <a:srgbClr val="000000"/>
                </a:solidFill>
                <a:latin typeface="Verdana" pitchFamily="34" charset="0"/>
              </a:rPr>
              <a:t>9/9/2025</a:t>
            </a:fld>
            <a:endParaRPr lang="en-US" dirty="0">
              <a:solidFill>
                <a:srgbClr val="000000"/>
              </a:solidFill>
              <a:latin typeface="Verdana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4519" y="6188076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  <a:latin typeface="Verdana" pitchFamily="34" charset="0"/>
            </a:endParaRP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DEE40834-A5DE-47B3-A638-FCCD054A64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401637"/>
              </p:ext>
            </p:extLst>
          </p:nvPr>
        </p:nvGraphicFramePr>
        <p:xfrm>
          <a:off x="1245797" y="8406"/>
          <a:ext cx="10929699" cy="13062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9296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0628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7" name="Picture 36" descr="kabale university new logo2">
            <a:extLst>
              <a:ext uri="{FF2B5EF4-FFF2-40B4-BE49-F238E27FC236}">
                <a16:creationId xmlns:a16="http://schemas.microsoft.com/office/drawing/2014/main" id="{5549180C-C395-40BE-9C35-6433D3E0B191}"/>
              </a:ext>
            </a:extLst>
          </p:cNvPr>
          <p:cNvPicPr/>
          <p:nvPr/>
        </p:nvPicPr>
        <p:blipFill>
          <a:blip r:embed="rId20"/>
          <a:srcRect/>
          <a:stretch>
            <a:fillRect/>
          </a:stretch>
        </p:blipFill>
        <p:spPr bwMode="auto">
          <a:xfrm>
            <a:off x="10615448" y="0"/>
            <a:ext cx="1560051" cy="1289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68586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  <p:sldLayoutId id="2147483803" r:id="rId17"/>
    <p:sldLayoutId id="2147483804" r:id="rId18"/>
  </p:sldLayoutIdLst>
  <p:hf hdr="0" ftr="0"/>
  <p:txStyles>
    <p:titleStyle>
      <a:lvl1pPr algn="l" defTabSz="257175" rtl="0" eaLnBrk="1" latinLnBrk="0" hangingPunct="1">
        <a:spcBef>
          <a:spcPct val="0"/>
        </a:spcBef>
        <a:buNone/>
        <a:defRPr sz="2025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92881" indent="-192881" algn="l" defTabSz="257175" rtl="0" eaLnBrk="1" latinLnBrk="0" hangingPunct="1">
        <a:spcBef>
          <a:spcPts val="563"/>
        </a:spcBef>
        <a:spcAft>
          <a:spcPts val="0"/>
        </a:spcAft>
        <a:buClr>
          <a:schemeClr val="accent1"/>
        </a:buClr>
        <a:buFont typeface="Wingdings 3" charset="2"/>
        <a:buChar char=""/>
        <a:defRPr sz="101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17910" indent="-160735" algn="l" defTabSz="257175" rtl="0" eaLnBrk="1" latinLnBrk="0" hangingPunct="1">
        <a:spcBef>
          <a:spcPts val="563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42938" indent="-128588" algn="l" defTabSz="257175" rtl="0" eaLnBrk="1" latinLnBrk="0" hangingPunct="1">
        <a:spcBef>
          <a:spcPts val="563"/>
        </a:spcBef>
        <a:spcAft>
          <a:spcPts val="0"/>
        </a:spcAft>
        <a:buClr>
          <a:schemeClr val="accent1"/>
        </a:buClr>
        <a:buFont typeface="Wingdings 3" charset="2"/>
        <a:buChar char=""/>
        <a:defRPr sz="788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00113" indent="-128588" algn="l" defTabSz="257175" rtl="0" eaLnBrk="1" latinLnBrk="0" hangingPunct="1">
        <a:spcBef>
          <a:spcPts val="563"/>
        </a:spcBef>
        <a:spcAft>
          <a:spcPts val="0"/>
        </a:spcAft>
        <a:buClr>
          <a:schemeClr val="accent1"/>
        </a:buClr>
        <a:buFont typeface="Wingdings 3" charset="2"/>
        <a:buChar char=""/>
        <a:defRPr sz="67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157288" indent="-128588" algn="l" defTabSz="257175" rtl="0" eaLnBrk="1" latinLnBrk="0" hangingPunct="1">
        <a:spcBef>
          <a:spcPts val="563"/>
        </a:spcBef>
        <a:spcAft>
          <a:spcPts val="0"/>
        </a:spcAft>
        <a:buClr>
          <a:schemeClr val="accent1"/>
        </a:buClr>
        <a:buFont typeface="Wingdings 3" charset="2"/>
        <a:buChar char=""/>
        <a:defRPr sz="67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414463" indent="-128588" algn="l" defTabSz="257175" rtl="0" eaLnBrk="1" latinLnBrk="0" hangingPunct="1">
        <a:spcBef>
          <a:spcPts val="563"/>
        </a:spcBef>
        <a:spcAft>
          <a:spcPts val="0"/>
        </a:spcAft>
        <a:buClr>
          <a:schemeClr val="accent1"/>
        </a:buClr>
        <a:buFont typeface="Wingdings 3" charset="2"/>
        <a:buChar char=""/>
        <a:defRPr sz="67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671638" indent="-128588" algn="l" defTabSz="257175" rtl="0" eaLnBrk="1" latinLnBrk="0" hangingPunct="1">
        <a:spcBef>
          <a:spcPts val="563"/>
        </a:spcBef>
        <a:spcAft>
          <a:spcPts val="0"/>
        </a:spcAft>
        <a:buClr>
          <a:schemeClr val="accent1"/>
        </a:buClr>
        <a:buFont typeface="Wingdings 3" charset="2"/>
        <a:buChar char=""/>
        <a:defRPr sz="67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928813" indent="-128588" algn="l" defTabSz="257175" rtl="0" eaLnBrk="1" latinLnBrk="0" hangingPunct="1">
        <a:spcBef>
          <a:spcPts val="563"/>
        </a:spcBef>
        <a:spcAft>
          <a:spcPts val="0"/>
        </a:spcAft>
        <a:buClr>
          <a:schemeClr val="accent1"/>
        </a:buClr>
        <a:buFont typeface="Wingdings 3" charset="2"/>
        <a:buChar char=""/>
        <a:defRPr sz="67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185988" indent="-128588" algn="l" defTabSz="257175" rtl="0" eaLnBrk="1" latinLnBrk="0" hangingPunct="1">
        <a:spcBef>
          <a:spcPts val="563"/>
        </a:spcBef>
        <a:spcAft>
          <a:spcPts val="0"/>
        </a:spcAft>
        <a:buClr>
          <a:schemeClr val="accent1"/>
        </a:buClr>
        <a:buFont typeface="Wingdings 3" charset="2"/>
        <a:buChar char=""/>
        <a:defRPr sz="67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2958" y="976746"/>
            <a:ext cx="8915399" cy="2262781"/>
          </a:xfrm>
        </p:spPr>
        <p:txBody>
          <a:bodyPr/>
          <a:lstStyle/>
          <a:p>
            <a:r>
              <a:rPr lang="en-GB" b="1" dirty="0"/>
              <a:t>Formulation of Research Objectives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92496" y="3709556"/>
            <a:ext cx="8915399" cy="2680854"/>
          </a:xfrm>
        </p:spPr>
        <p:txBody>
          <a:bodyPr>
            <a:noAutofit/>
          </a:bodyPr>
          <a:lstStyle/>
          <a:p>
            <a:endParaRPr lang="en-US" sz="1600" b="1" dirty="0"/>
          </a:p>
          <a:p>
            <a:r>
              <a:rPr lang="en-US" sz="1600" b="1" dirty="0" err="1"/>
              <a:t>Muhoza</a:t>
            </a:r>
            <a:r>
              <a:rPr lang="en-US" sz="1600" b="1" dirty="0"/>
              <a:t> B Gloria</a:t>
            </a:r>
          </a:p>
          <a:p>
            <a:endParaRPr lang="en-US" sz="1600" b="1" dirty="0"/>
          </a:p>
          <a:p>
            <a:r>
              <a:rPr lang="en-US" sz="1600" b="1" dirty="0"/>
              <a:t>+2567050015090</a:t>
            </a:r>
          </a:p>
          <a:p>
            <a:r>
              <a:rPr lang="en-US" sz="1600" b="1" dirty="0"/>
              <a:t>Email: gmuhoza@kab.ac.ug</a:t>
            </a:r>
          </a:p>
          <a:p>
            <a:endParaRPr lang="en-US" sz="12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62C0F-B718-4DB6-829D-E9AA407A6214}" type="datetime1">
              <a:rPr lang="en-US" smtClean="0"/>
              <a:t>9/9/2025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93149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0" y="124692"/>
            <a:ext cx="9654745" cy="789709"/>
          </a:xfrm>
        </p:spPr>
        <p:txBody>
          <a:bodyPr>
            <a:normAutofit/>
          </a:bodyPr>
          <a:lstStyle/>
          <a:p>
            <a:r>
              <a:rPr lang="en-GB" sz="3200" b="1" dirty="0">
                <a:latin typeface="Comic Sans MS" panose="030F0702030302020204" pitchFamily="66" charset="0"/>
              </a:rPr>
              <a:t>General Objective of the research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4891" y="1977655"/>
            <a:ext cx="9056523" cy="3813545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GB" sz="2800" dirty="0"/>
              <a:t>The general objective of a research project Summarizes what is to be achieved by the study. It should be in relation to the statement of the problem.</a:t>
            </a:r>
          </a:p>
          <a:p>
            <a:pPr marL="0" indent="0" algn="just">
              <a:buNone/>
            </a:pPr>
            <a:endParaRPr lang="en-GB" sz="2800" dirty="0"/>
          </a:p>
          <a:p>
            <a:pPr marL="0" indent="0" algn="just">
              <a:buNone/>
            </a:pPr>
            <a:r>
              <a:rPr lang="en-GB" sz="2800" dirty="0"/>
              <a:t>For example if the problem identified is </a:t>
            </a:r>
            <a:r>
              <a:rPr lang="en-GB" sz="2800" b="1" i="1" dirty="0"/>
              <a:t>low utilization of electronic information management systems</a:t>
            </a:r>
            <a:r>
              <a:rPr lang="en-GB" sz="2800" dirty="0"/>
              <a:t>, </a:t>
            </a:r>
          </a:p>
          <a:p>
            <a:pPr marL="0" indent="0" algn="just">
              <a:buNone/>
            </a:pPr>
            <a:r>
              <a:rPr lang="en-GB" sz="2800" dirty="0"/>
              <a:t>The general objective of the study could be</a:t>
            </a:r>
          </a:p>
          <a:p>
            <a:pPr marL="0" indent="0" algn="just">
              <a:buNone/>
            </a:pPr>
            <a:r>
              <a:rPr lang="en-GB" sz="2800" b="1" dirty="0"/>
              <a:t>To identify the reasons for the low utilization of electronic management systems</a:t>
            </a:r>
            <a:r>
              <a:rPr lang="en-GB" sz="2800" dirty="0"/>
              <a:t>, so as to obtain solutions.</a:t>
            </a:r>
          </a:p>
          <a:p>
            <a:pPr marL="0" indent="0" algn="just">
              <a:buNone/>
            </a:pPr>
            <a:endParaRPr lang="en-GB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6065E-CDD2-4457-A540-E45DD0CB773A}" type="datetime1">
              <a:rPr lang="en-US" smtClean="0"/>
              <a:t>9/9/2025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38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304903"/>
            <a:ext cx="8896207" cy="630273"/>
          </a:xfrm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rgbClr val="7030A0"/>
                </a:solidFill>
                <a:latin typeface="Comic Sans MS" panose="030F0702030302020204" pitchFamily="66" charset="0"/>
              </a:rPr>
              <a:t>Specific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8409" y="1552353"/>
            <a:ext cx="8747989" cy="4238847"/>
          </a:xfrm>
        </p:spPr>
        <p:txBody>
          <a:bodyPr>
            <a:normAutofit lnSpcReduction="10000"/>
          </a:bodyPr>
          <a:lstStyle/>
          <a:p>
            <a:r>
              <a:rPr lang="en-GB" sz="2400" dirty="0"/>
              <a:t>The general objective of the study states what is expected to be achieved by the study in general terms.</a:t>
            </a:r>
          </a:p>
          <a:p>
            <a:r>
              <a:rPr lang="en-GB" sz="2400" dirty="0"/>
              <a:t>It is therefore possible and advisable to breakdown a general objective into smaller, logically connected parts which are normally referred to as</a:t>
            </a:r>
            <a:r>
              <a:rPr lang="en-GB" sz="2400" b="1" dirty="0">
                <a:solidFill>
                  <a:srgbClr val="FF0000"/>
                </a:solidFill>
              </a:rPr>
              <a:t> specific objectives.</a:t>
            </a:r>
          </a:p>
          <a:p>
            <a:endParaRPr lang="en-GB" sz="2400" b="1" dirty="0">
              <a:solidFill>
                <a:srgbClr val="FF0000"/>
              </a:solidFill>
            </a:endParaRPr>
          </a:p>
          <a:p>
            <a:pPr algn="just"/>
            <a:r>
              <a:rPr lang="en-GB" sz="2400" dirty="0"/>
              <a:t>The specific objectives should systematically address what the researcher will do in the study, where and for what purpose.</a:t>
            </a:r>
          </a:p>
          <a:p>
            <a:pPr algn="just"/>
            <a:r>
              <a:rPr lang="en-GB" sz="2400" dirty="0"/>
              <a:t>The first specific objective should focus on specifying the problem.</a:t>
            </a:r>
          </a:p>
          <a:p>
            <a:pPr marL="0" indent="0">
              <a:buNone/>
            </a:pP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90805-EF3D-455B-B815-FE674F1D566D}" type="datetime1">
              <a:rPr lang="en-US" smtClean="0"/>
              <a:t>9/9/2025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760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5485" y="227642"/>
            <a:ext cx="9166371" cy="955964"/>
          </a:xfrm>
        </p:spPr>
        <p:txBody>
          <a:bodyPr>
            <a:normAutofit fontScale="90000"/>
          </a:bodyPr>
          <a:lstStyle/>
          <a:p>
            <a:r>
              <a:rPr lang="en-GB" sz="3200" b="1" dirty="0">
                <a:latin typeface="Comic Sans MS" panose="030F0702030302020204" pitchFamily="66" charset="0"/>
              </a:rPr>
              <a:t>Why should research objectives be developed?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AA20D-A2C3-450C-8CBE-259D67862ED2}" type="datetime1">
              <a:rPr lang="en-US" smtClean="0"/>
              <a:t>9/9/2025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F7B1B43-5B4B-4ACF-B78B-BA9A994325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2000" y="1152910"/>
            <a:ext cx="9905998" cy="55659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G" altLang="en-UG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give direction</a:t>
            </a:r>
            <a:r>
              <a:rPr kumimoji="0" lang="en-UG" altLang="en-UG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objectives show step by step what the researcher intends to do, turning broad intentions into concrete actions.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G" altLang="en-UG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make the study measurable</a:t>
            </a:r>
            <a:r>
              <a:rPr kumimoji="0" lang="en-UG" altLang="en-UG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unlike general aims, objectives can be checked to see whether they’ve been achieved or not.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G" altLang="en-UG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guide methodology</a:t>
            </a:r>
            <a:r>
              <a:rPr kumimoji="0" lang="en-UG" altLang="en-UG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the way data is collected and </a:t>
            </a:r>
            <a:r>
              <a:rPr kumimoji="0" lang="en-UG" altLang="en-UG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kumimoji="0" lang="en-UG" altLang="en-UG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depends directly on the stated objectives.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G" altLang="en-UG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help with time and resource management</a:t>
            </a:r>
            <a:r>
              <a:rPr kumimoji="0" lang="en-UG" altLang="en-UG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clear objectives prevent wasting effort on irrelevant activities.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G" altLang="en-UG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improve communication</a:t>
            </a:r>
            <a:r>
              <a:rPr kumimoji="0" lang="en-UG" altLang="en-UG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readers, funders, or supervisors can quickly see what the study is trying to accomplish.</a:t>
            </a:r>
          </a:p>
        </p:txBody>
      </p:sp>
    </p:spTree>
    <p:extLst>
      <p:ext uri="{BB962C8B-B14F-4D97-AF65-F5344CB8AC3E}">
        <p14:creationId xmlns:p14="http://schemas.microsoft.com/office/powerpoint/2010/main" val="2484498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F5D9A4-A092-4514-913C-517F3C4A1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78B1D-DFCB-4AC2-A9DB-69A9CBBBFA7D}" type="datetime1">
              <a:rPr lang="en-US" smtClean="0"/>
              <a:t>9/9/2025</a:t>
            </a:fld>
            <a:r>
              <a:rPr lang="en-US" dirty="0" err="1"/>
              <a:t>Wf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FE0D21-844B-4269-BBF5-C88CAA604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2CD4895-A1A1-4C57-A719-BE33158A4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334" y="1367575"/>
            <a:ext cx="9863666" cy="5185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G" altLang="en-UG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 – </a:t>
            </a:r>
            <a:r>
              <a:rPr kumimoji="0" lang="en-UG" altLang="en-UG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Specific</a:t>
            </a:r>
            <a:r>
              <a:rPr kumimoji="0" lang="en-UG" altLang="en-UG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objective should be clear, well-defined, and focused on one particular issue or aspect of the research.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G" altLang="en-UG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 – Measurable</a:t>
            </a:r>
            <a:r>
              <a:rPr kumimoji="0" lang="en-UG" altLang="en-UG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It should be possible to track or measure progress and know when the objective has been achieved.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G" altLang="en-UG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– Achievable (or Attainable)</a:t>
            </a:r>
            <a:r>
              <a:rPr kumimoji="0" lang="en-UG" altLang="en-UG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objective should be realistic given the resources, time, and skills available.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G" altLang="en-UG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 – Relevant</a:t>
            </a:r>
            <a:r>
              <a:rPr kumimoji="0" lang="en-UG" altLang="en-UG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It must align with the overall aim of the study and contribute to solving the research problem.</a:t>
            </a:r>
          </a:p>
        </p:txBody>
      </p:sp>
    </p:spTree>
    <p:extLst>
      <p:ext uri="{BB962C8B-B14F-4D97-AF65-F5344CB8AC3E}">
        <p14:creationId xmlns:p14="http://schemas.microsoft.com/office/powerpoint/2010/main" val="1274968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0025" y="377344"/>
            <a:ext cx="6329653" cy="820882"/>
          </a:xfrm>
        </p:spPr>
        <p:txBody>
          <a:bodyPr>
            <a:normAutofit/>
          </a:bodyPr>
          <a:lstStyle/>
          <a:p>
            <a:r>
              <a:rPr lang="en-GB" sz="3200" b="1" dirty="0">
                <a:latin typeface="Comic Sans MS" panose="030F0702030302020204" pitchFamily="66" charset="0"/>
              </a:rPr>
              <a:t>Note…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9191" y="1775637"/>
            <a:ext cx="9663832" cy="4015563"/>
          </a:xfrm>
        </p:spPr>
        <p:txBody>
          <a:bodyPr>
            <a:normAutofit fontScale="85000" lnSpcReduction="20000"/>
          </a:bodyPr>
          <a:lstStyle/>
          <a:p>
            <a:r>
              <a:rPr lang="en-GB" sz="3500" dirty="0"/>
              <a:t>Use action verbs that are specific enough to be evaluated. Examples include:</a:t>
            </a:r>
          </a:p>
          <a:p>
            <a:r>
              <a:rPr lang="en-GB" sz="3500" b="1" i="1" dirty="0">
                <a:solidFill>
                  <a:srgbClr val="00B050"/>
                </a:solidFill>
              </a:rPr>
              <a:t>To identify, To describe, To establish, To assess, To examine, To explore, To verify, to calculate etc.</a:t>
            </a:r>
          </a:p>
          <a:p>
            <a:r>
              <a:rPr lang="en-GB" sz="3500" dirty="0"/>
              <a:t>Avoid the usage of vague non action verbs like: </a:t>
            </a:r>
            <a:r>
              <a:rPr lang="en-GB" sz="3500" b="1" i="1" dirty="0">
                <a:solidFill>
                  <a:srgbClr val="FF0000"/>
                </a:solidFill>
              </a:rPr>
              <a:t>to appreciate, to understand, to know, to see, to feel, etc.</a:t>
            </a:r>
          </a:p>
          <a:p>
            <a:r>
              <a:rPr lang="en-GB" sz="3500" b="1" i="1" dirty="0"/>
              <a:t>The evaluation of the research projects will be compared to the objectives. Failure to clearly spell out the objectives results into wrong results.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B29E6-B506-4A96-BA2B-FB94A7AE1F93}" type="datetime1">
              <a:rPr lang="en-US" smtClean="0"/>
              <a:t>9/9/2025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133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337" y="373592"/>
            <a:ext cx="7358353" cy="779318"/>
          </a:xfrm>
        </p:spPr>
        <p:txBody>
          <a:bodyPr>
            <a:normAutofit/>
          </a:bodyPr>
          <a:lstStyle/>
          <a:p>
            <a:pPr algn="just"/>
            <a:r>
              <a:rPr lang="en-GB" sz="3200" b="1" dirty="0">
                <a:latin typeface="Comic Sans MS" panose="030F0702030302020204" pitchFamily="66" charset="0"/>
              </a:rPr>
              <a:t>Examples of objectives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3337" y="1967023"/>
            <a:ext cx="8842016" cy="3561263"/>
          </a:xfrm>
        </p:spPr>
        <p:txBody>
          <a:bodyPr>
            <a:normAutofit/>
          </a:bodyPr>
          <a:lstStyle/>
          <a:p>
            <a:r>
              <a:rPr lang="en-US" sz="2800" dirty="0"/>
              <a:t>a) To design a prototype that acts as a measure ……… </a:t>
            </a:r>
          </a:p>
          <a:p>
            <a:r>
              <a:rPr lang="en-US" sz="2800" dirty="0"/>
              <a:t>b) To model a Decision Support system that will …….. </a:t>
            </a:r>
          </a:p>
          <a:p>
            <a:r>
              <a:rPr lang="en-US" sz="2800" dirty="0"/>
              <a:t>c) To validate the system developed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634EE-B8FD-4A27-91DB-9FED7845DFE2}" type="datetime1">
              <a:rPr lang="en-US" smtClean="0"/>
              <a:t>9/9/2025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604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1284" y="187036"/>
            <a:ext cx="7015633" cy="696191"/>
          </a:xfrm>
        </p:spPr>
        <p:txBody>
          <a:bodyPr>
            <a:normAutofit/>
          </a:bodyPr>
          <a:lstStyle/>
          <a:p>
            <a:r>
              <a:rPr lang="en-GB" sz="2800" b="1" dirty="0">
                <a:latin typeface="Comic Sans MS" panose="030F0702030302020204" pitchFamily="66" charset="0"/>
              </a:rP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828799"/>
            <a:ext cx="7388117" cy="3962401"/>
          </a:xfrm>
        </p:spPr>
        <p:txBody>
          <a:bodyPr>
            <a:normAutofit/>
          </a:bodyPr>
          <a:lstStyle/>
          <a:p>
            <a:r>
              <a:rPr lang="en-GB" sz="2800" dirty="0"/>
              <a:t>Research questions are a foundation for a successful research project.</a:t>
            </a:r>
          </a:p>
          <a:p>
            <a:r>
              <a:rPr lang="en-GB" sz="2800" dirty="0"/>
              <a:t>Source of focus.</a:t>
            </a:r>
          </a:p>
          <a:p>
            <a:r>
              <a:rPr lang="en-GB" sz="2800" dirty="0"/>
              <a:t>Research questions are formulated from the objectives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AA180-A415-4524-9A98-EBCA2FAAD546}" type="datetime1">
              <a:rPr lang="en-US" smtClean="0"/>
              <a:t>9/9/2025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09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211" y="268239"/>
            <a:ext cx="7763598" cy="798561"/>
          </a:xfrm>
        </p:spPr>
        <p:txBody>
          <a:bodyPr>
            <a:normAutofit/>
          </a:bodyPr>
          <a:lstStyle/>
          <a:p>
            <a:r>
              <a:rPr lang="en-GB" sz="2800" b="1" dirty="0">
                <a:latin typeface="Comic Sans MS" panose="030F0702030302020204" pitchFamily="66" charset="0"/>
              </a:rPr>
              <a:t>A good research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1" y="1913860"/>
            <a:ext cx="8601740" cy="3877340"/>
          </a:xfrm>
        </p:spPr>
        <p:txBody>
          <a:bodyPr>
            <a:normAutofit/>
          </a:bodyPr>
          <a:lstStyle/>
          <a:p>
            <a:r>
              <a:rPr lang="en-GB" sz="2800" dirty="0"/>
              <a:t>Significant (Worth examining, and funding)</a:t>
            </a:r>
          </a:p>
          <a:p>
            <a:r>
              <a:rPr lang="en-GB" sz="2800" dirty="0"/>
              <a:t>Specific</a:t>
            </a:r>
          </a:p>
          <a:p>
            <a:r>
              <a:rPr lang="en-GB" sz="2800" dirty="0"/>
              <a:t>Single (Complete, coherent idea)</a:t>
            </a:r>
          </a:p>
          <a:p>
            <a:pPr marL="0" indent="0">
              <a:buNone/>
            </a:pPr>
            <a:r>
              <a:rPr lang="en-GB" sz="2800" b="1" i="1" dirty="0">
                <a:solidFill>
                  <a:srgbClr val="00B0F0"/>
                </a:solidFill>
                <a:latin typeface="Comic Sans MS" panose="030F0702030302020204" pitchFamily="66" charset="0"/>
              </a:rPr>
              <a:t>Research question: translates research objectives into an answerable question.</a:t>
            </a:r>
          </a:p>
          <a:p>
            <a:endParaRPr lang="en-GB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93EDC-5B5D-4065-993E-4B8C0A0250BE}" type="datetime1">
              <a:rPr lang="en-US" smtClean="0"/>
              <a:t>9/9/2025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646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3226" y="352335"/>
            <a:ext cx="7649298" cy="519545"/>
          </a:xfrm>
        </p:spPr>
        <p:txBody>
          <a:bodyPr>
            <a:normAutofit fontScale="90000"/>
          </a:bodyPr>
          <a:lstStyle/>
          <a:p>
            <a:r>
              <a:rPr lang="en-GB" sz="3200" b="1" dirty="0">
                <a:latin typeface="Comic Sans MS" panose="030F0702030302020204" pitchFamily="66" charset="0"/>
              </a:rPr>
              <a:t>Title of the Study.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7465" y="1786269"/>
            <a:ext cx="9038934" cy="4004931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The title should be inline with your research objectives</a:t>
            </a:r>
          </a:p>
          <a:p>
            <a:pPr algn="just"/>
            <a:r>
              <a:rPr lang="en-GB" sz="2800" dirty="0"/>
              <a:t>It should be specific enough to tell the reader what the study is all about and where will it be done.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45CED-E982-4951-8AED-FB8AF484B30C}" type="datetime1">
              <a:rPr lang="en-US" smtClean="0"/>
              <a:t>9/9/2025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898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044932" y="247458"/>
            <a:ext cx="7846725" cy="864370"/>
          </a:xfrm>
          <a:noFill/>
          <a:ln/>
        </p:spPr>
        <p:txBody>
          <a:bodyPr>
            <a:normAutofit/>
          </a:bodyPr>
          <a:lstStyle/>
          <a:p>
            <a:r>
              <a:rPr lang="en-GB" altLang="en-US" sz="2800" b="1" dirty="0">
                <a:latin typeface="Comic Sans MS" panose="030F0702030302020204" pitchFamily="66" charset="0"/>
              </a:rPr>
              <a:t>Literature Review (LR)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1796902" y="1616149"/>
            <a:ext cx="8583616" cy="4130024"/>
          </a:xfrm>
          <a:noFill/>
          <a:ln/>
        </p:spPr>
        <p:txBody>
          <a:bodyPr>
            <a:normAutofit/>
          </a:bodyPr>
          <a:lstStyle/>
          <a:p>
            <a:r>
              <a:rPr lang="en-GB" altLang="en-US" sz="2400" dirty="0"/>
              <a:t>There is need for students to understand the purpose of investigating the literature</a:t>
            </a:r>
          </a:p>
          <a:p>
            <a:r>
              <a:rPr lang="en-GB" altLang="en-US" sz="2400" dirty="0"/>
              <a:t>Its function – the more one knows the more knowledgeably one can approach the problems</a:t>
            </a:r>
          </a:p>
          <a:p>
            <a:r>
              <a:rPr lang="en-GB" altLang="en-US" sz="2400" dirty="0">
                <a:solidFill>
                  <a:schemeClr val="accent2"/>
                </a:solidFill>
              </a:rPr>
              <a:t>Re</a:t>
            </a:r>
            <a:r>
              <a:rPr lang="en-GB" altLang="en-US" sz="2400" dirty="0"/>
              <a:t>+</a:t>
            </a:r>
            <a:r>
              <a:rPr lang="en-GB" altLang="en-US" sz="2400" dirty="0">
                <a:solidFill>
                  <a:schemeClr val="accent1"/>
                </a:solidFill>
              </a:rPr>
              <a:t>view</a:t>
            </a:r>
            <a:r>
              <a:rPr lang="en-GB" altLang="en-US" sz="2400" dirty="0"/>
              <a:t> = </a:t>
            </a:r>
            <a:r>
              <a:rPr lang="en-GB" altLang="en-US" sz="2400" dirty="0">
                <a:solidFill>
                  <a:srgbClr val="FF00FF"/>
                </a:solidFill>
              </a:rPr>
              <a:t>look again</a:t>
            </a:r>
            <a:r>
              <a:rPr lang="en-GB" altLang="en-US" sz="2400" dirty="0"/>
              <a:t> at what others have done in areas that are similar, though not necessarily identical to, one’s own area of investigation</a:t>
            </a:r>
          </a:p>
          <a:p>
            <a:r>
              <a:rPr lang="en-GB" altLang="en-US" sz="2400" dirty="0"/>
              <a:t>You should know the literature about your topic </a:t>
            </a:r>
            <a:r>
              <a:rPr lang="en-GB" altLang="en-US" sz="2400" i="1" dirty="0"/>
              <a:t>very, very well</a:t>
            </a:r>
          </a:p>
          <a:p>
            <a:r>
              <a:rPr lang="en-GB" altLang="en-US" sz="2400" dirty="0"/>
              <a:t>Many benefits from review</a:t>
            </a:r>
          </a:p>
          <a:p>
            <a:endParaRPr lang="en-GB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D8FC0-01D4-4C78-AADE-EFCC53812B11}" type="datetime1">
              <a:rPr lang="en-US" smtClean="0"/>
              <a:t>9/9/2025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627060"/>
      </p:ext>
    </p:extLst>
  </p:cSld>
  <p:clrMapOvr>
    <a:masterClrMapping/>
  </p:clrMapOvr>
  <p:transition advTm="200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886887" y="425546"/>
            <a:ext cx="8418225" cy="727364"/>
          </a:xfrm>
          <a:noFill/>
          <a:ln/>
        </p:spPr>
        <p:txBody>
          <a:bodyPr>
            <a:normAutofit/>
          </a:bodyPr>
          <a:lstStyle/>
          <a:p>
            <a:r>
              <a:rPr lang="en-GB" altLang="en-US" sz="2800" b="1" dirty="0">
                <a:latin typeface="Comic Sans MS" panose="030F0702030302020204" pitchFamily="66" charset="0"/>
              </a:rPr>
              <a:t>Benefits of Literature Review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885931" y="1786270"/>
            <a:ext cx="8215000" cy="3896352"/>
          </a:xfrm>
          <a:noFill/>
          <a:ln/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GB" altLang="en-US" sz="2400" dirty="0"/>
              <a:t>It can offer </a:t>
            </a:r>
            <a:r>
              <a:rPr lang="en-GB" altLang="en-US" sz="2400" dirty="0">
                <a:solidFill>
                  <a:schemeClr val="accent1"/>
                </a:solidFill>
              </a:rPr>
              <a:t>new ideas, perspectives, and approaches</a:t>
            </a:r>
            <a:r>
              <a:rPr lang="en-GB" altLang="en-US" sz="2400" dirty="0"/>
              <a:t> that may not have occurred to you</a:t>
            </a:r>
          </a:p>
          <a:p>
            <a:pPr algn="just">
              <a:lnSpc>
                <a:spcPct val="90000"/>
              </a:lnSpc>
            </a:pPr>
            <a:r>
              <a:rPr lang="en-GB" altLang="en-US" sz="2400" dirty="0"/>
              <a:t>It can inform you about </a:t>
            </a:r>
            <a:r>
              <a:rPr lang="en-GB" altLang="en-US" sz="2400" dirty="0">
                <a:solidFill>
                  <a:srgbClr val="0000FF"/>
                </a:solidFill>
              </a:rPr>
              <a:t>other researchers</a:t>
            </a:r>
            <a:r>
              <a:rPr lang="en-GB" altLang="en-US" sz="2400" dirty="0"/>
              <a:t> who conducted work in this area – individuals whom you may wish </a:t>
            </a:r>
            <a:r>
              <a:rPr lang="en-GB" altLang="en-US" sz="2400" dirty="0">
                <a:solidFill>
                  <a:srgbClr val="0000FF"/>
                </a:solidFill>
              </a:rPr>
              <a:t>to contact for advice or feedback</a:t>
            </a:r>
          </a:p>
          <a:p>
            <a:pPr algn="just">
              <a:lnSpc>
                <a:spcPct val="90000"/>
              </a:lnSpc>
            </a:pPr>
            <a:r>
              <a:rPr lang="en-GB" altLang="en-US" sz="2400" dirty="0"/>
              <a:t>It can show you how others have </a:t>
            </a:r>
            <a:r>
              <a:rPr lang="en-GB" altLang="en-US" sz="2400" dirty="0">
                <a:solidFill>
                  <a:srgbClr val="FF00FF"/>
                </a:solidFill>
              </a:rPr>
              <a:t>handled methodological and design issues</a:t>
            </a:r>
            <a:r>
              <a:rPr lang="en-GB" altLang="en-US" sz="2400" dirty="0"/>
              <a:t> in studies similar to your own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FD06B-C73A-4E5F-A636-F59F36B4B319}" type="datetime1">
              <a:rPr lang="en-US" smtClean="0"/>
              <a:t>9/9/2025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35673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903412" y="304903"/>
            <a:ext cx="8044153" cy="623455"/>
          </a:xfrm>
        </p:spPr>
        <p:txBody>
          <a:bodyPr>
            <a:normAutofit/>
          </a:bodyPr>
          <a:lstStyle/>
          <a:p>
            <a:r>
              <a:rPr lang="en-GB" altLang="en-US" sz="2800" b="1" dirty="0">
                <a:latin typeface="Comic Sans MS" panose="030F0702030302020204" pitchFamily="66" charset="0"/>
              </a:rPr>
              <a:t>Benefits of Literature Review</a:t>
            </a:r>
            <a:endParaRPr lang="en-US" altLang="en-US" sz="2800" b="1" dirty="0">
              <a:latin typeface="Comic Sans MS" panose="030F0702030302020204" pitchFamily="66" charset="0"/>
            </a:endParaRPr>
          </a:p>
        </p:txBody>
      </p:sp>
      <p:sp>
        <p:nvSpPr>
          <p:cNvPr id="144387" name="Rectangle 1027"/>
          <p:cNvSpPr>
            <a:spLocks noGrp="1" noChangeArrowheads="1"/>
          </p:cNvSpPr>
          <p:nvPr>
            <p:ph idx="1"/>
          </p:nvPr>
        </p:nvSpPr>
        <p:spPr>
          <a:xfrm>
            <a:off x="1903412" y="1775637"/>
            <a:ext cx="8941797" cy="3906985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GB" altLang="en-US" sz="2400" dirty="0"/>
              <a:t>It can reveal </a:t>
            </a:r>
            <a:r>
              <a:rPr lang="en-GB" altLang="en-US" sz="2400" dirty="0">
                <a:solidFill>
                  <a:schemeClr val="accent1"/>
                </a:solidFill>
              </a:rPr>
              <a:t>methods of dealing with problematic situations</a:t>
            </a:r>
            <a:r>
              <a:rPr lang="en-GB" altLang="en-US" sz="2400" dirty="0"/>
              <a:t> that may be similar to difficulties you are facing</a:t>
            </a:r>
          </a:p>
          <a:p>
            <a:pPr algn="just">
              <a:lnSpc>
                <a:spcPct val="90000"/>
              </a:lnSpc>
            </a:pPr>
            <a:r>
              <a:rPr lang="en-GB" altLang="en-US" sz="2400" dirty="0"/>
              <a:t>It can help you </a:t>
            </a:r>
            <a:r>
              <a:rPr lang="en-GB" altLang="en-US" sz="2400" dirty="0">
                <a:solidFill>
                  <a:schemeClr val="accent2"/>
                </a:solidFill>
              </a:rPr>
              <a:t>interpret and make sense of your findings</a:t>
            </a:r>
            <a:r>
              <a:rPr lang="en-GB" altLang="en-US" sz="2400" dirty="0"/>
              <a:t> and, ultimately, </a:t>
            </a:r>
          </a:p>
          <a:p>
            <a:pPr algn="just">
              <a:lnSpc>
                <a:spcPct val="90000"/>
              </a:lnSpc>
            </a:pPr>
            <a:r>
              <a:rPr lang="en-GB" altLang="en-US" sz="2400" dirty="0"/>
              <a:t>It will </a:t>
            </a:r>
            <a:r>
              <a:rPr lang="en-GB" altLang="en-US" sz="2400" dirty="0">
                <a:solidFill>
                  <a:srgbClr val="006600"/>
                </a:solidFill>
              </a:rPr>
              <a:t>bolster your confidence</a:t>
            </a:r>
            <a:r>
              <a:rPr lang="en-GB" altLang="en-US" sz="2400" dirty="0"/>
              <a:t> that your topic is one worth pursuing, because you will find that others have invested considerable time, effort, and resources in studying it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92887-76BB-4591-BA9D-430C7ACAD09D}" type="datetime1">
              <a:rPr lang="en-US" smtClean="0"/>
              <a:t>9/9/2025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2098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>
          <a:xfrm>
            <a:off x="1819346" y="251740"/>
            <a:ext cx="8553307" cy="536045"/>
          </a:xfrm>
        </p:spPr>
        <p:txBody>
          <a:bodyPr>
            <a:normAutofit/>
          </a:bodyPr>
          <a:lstStyle/>
          <a:p>
            <a:r>
              <a:rPr lang="en-US" altLang="en-US" sz="2800" b="1" dirty="0">
                <a:latin typeface="Comic Sans MS" panose="030F0702030302020204" pitchFamily="66" charset="0"/>
              </a:rPr>
              <a:t>Benefits of Literature Review</a:t>
            </a:r>
          </a:p>
        </p:txBody>
      </p:sp>
      <p:sp>
        <p:nvSpPr>
          <p:cNvPr id="122883" name="Rectangle 3"/>
          <p:cNvSpPr>
            <a:spLocks noGrp="1" noChangeArrowheads="1"/>
          </p:cNvSpPr>
          <p:nvPr>
            <p:ph idx="1"/>
          </p:nvPr>
        </p:nvSpPr>
        <p:spPr>
          <a:xfrm>
            <a:off x="1819346" y="1913860"/>
            <a:ext cx="7930710" cy="3721396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GB" altLang="en-US" sz="2400" dirty="0"/>
              <a:t>It can </a:t>
            </a:r>
            <a:r>
              <a:rPr lang="en-GB" altLang="en-US" sz="2400" dirty="0">
                <a:solidFill>
                  <a:srgbClr val="663300"/>
                </a:solidFill>
              </a:rPr>
              <a:t>reveal sources of data</a:t>
            </a:r>
            <a:r>
              <a:rPr lang="en-GB" altLang="en-US" sz="2400" dirty="0"/>
              <a:t> that you may not have known existed</a:t>
            </a:r>
          </a:p>
          <a:p>
            <a:pPr algn="just">
              <a:lnSpc>
                <a:spcPct val="90000"/>
              </a:lnSpc>
            </a:pPr>
            <a:r>
              <a:rPr lang="en-GB" altLang="en-US" sz="2400" dirty="0"/>
              <a:t>It can introduce you to </a:t>
            </a:r>
            <a:r>
              <a:rPr lang="en-GB" altLang="en-US" sz="2400" dirty="0">
                <a:solidFill>
                  <a:schemeClr val="accent1"/>
                </a:solidFill>
              </a:rPr>
              <a:t>measurement tools</a:t>
            </a:r>
            <a:r>
              <a:rPr lang="en-GB" altLang="en-US" sz="2400" dirty="0"/>
              <a:t> that other researchers have developed and used effectively</a:t>
            </a:r>
            <a:endParaRPr lang="en-US" altLang="en-US" sz="2400" dirty="0"/>
          </a:p>
          <a:p>
            <a:pPr algn="just"/>
            <a:r>
              <a:rPr lang="en-US" altLang="en-US" sz="2400" dirty="0">
                <a:solidFill>
                  <a:schemeClr val="accent1"/>
                </a:solidFill>
              </a:rPr>
              <a:t>Important</a:t>
            </a:r>
            <a:r>
              <a:rPr lang="en-US" altLang="en-US" sz="2400" dirty="0"/>
              <a:t> - you should know </a:t>
            </a:r>
            <a:r>
              <a:rPr lang="en-US" altLang="en-US" sz="2400" dirty="0">
                <a:solidFill>
                  <a:srgbClr val="FF00FF"/>
                </a:solidFill>
              </a:rPr>
              <a:t>where others have been</a:t>
            </a:r>
            <a:r>
              <a:rPr lang="en-US" altLang="en-US" sz="2400" dirty="0"/>
              <a:t> and </a:t>
            </a:r>
            <a:r>
              <a:rPr lang="en-US" altLang="en-US" sz="2400" dirty="0">
                <a:solidFill>
                  <a:srgbClr val="FF00FF"/>
                </a:solidFill>
              </a:rPr>
              <a:t>what activities</a:t>
            </a:r>
            <a:r>
              <a:rPr lang="en-US" altLang="en-US" sz="2400" dirty="0"/>
              <a:t> they have been engaged.</a:t>
            </a:r>
          </a:p>
          <a:p>
            <a:pPr algn="just"/>
            <a:endParaRPr lang="en-US" altLang="en-US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87C9-79F6-4ADB-9EF0-3115DC7FD0D4}" type="datetime1">
              <a:rPr lang="en-US" smtClean="0"/>
              <a:t>9/9/2025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496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7783" y="223284"/>
            <a:ext cx="8636434" cy="991496"/>
          </a:xfrm>
        </p:spPr>
        <p:txBody>
          <a:bodyPr>
            <a:normAutofit/>
          </a:bodyPr>
          <a:lstStyle/>
          <a:p>
            <a:r>
              <a:rPr lang="en-GB" sz="2800" b="1" dirty="0">
                <a:solidFill>
                  <a:srgbClr val="7030A0"/>
                </a:solidFill>
                <a:latin typeface="Comic Sans MS" panose="030F0702030302020204" pitchFamily="66" charset="0"/>
              </a:rPr>
              <a:t>Why is it important to review already available information?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8288" y="1616149"/>
            <a:ext cx="8757502" cy="4175052"/>
          </a:xfrm>
        </p:spPr>
        <p:txBody>
          <a:bodyPr>
            <a:normAutofit/>
          </a:bodyPr>
          <a:lstStyle/>
          <a:p>
            <a:pPr lvl="1" algn="just"/>
            <a:r>
              <a:rPr lang="en-GB" sz="2800" dirty="0"/>
              <a:t>Prevents duplication</a:t>
            </a:r>
          </a:p>
          <a:p>
            <a:pPr lvl="1" algn="just"/>
            <a:r>
              <a:rPr lang="en-GB" sz="2800" dirty="0"/>
              <a:t>Discover what is known about the problem you want to study, and this helps in refining your statement of the problem.</a:t>
            </a:r>
          </a:p>
          <a:p>
            <a:pPr lvl="1" algn="just"/>
            <a:r>
              <a:rPr lang="en-GB" sz="2800" dirty="0"/>
              <a:t>Familiarize with various research approaches that might be used in your study.</a:t>
            </a:r>
          </a:p>
          <a:p>
            <a:pPr lvl="1" algn="just"/>
            <a:r>
              <a:rPr lang="en-GB" sz="2800" dirty="0"/>
              <a:t>Justification for your research project.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A5F05-092D-47B1-BAD6-26AD71E367A7}" type="datetime1">
              <a:rPr lang="en-US" smtClean="0"/>
              <a:t>9/9/2025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470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944654" y="170247"/>
            <a:ext cx="7077798" cy="800100"/>
          </a:xfrm>
        </p:spPr>
        <p:txBody>
          <a:bodyPr>
            <a:normAutofit/>
          </a:bodyPr>
          <a:lstStyle/>
          <a:p>
            <a:r>
              <a:rPr lang="en-US" altLang="en-US" sz="2800" b="1" dirty="0">
                <a:latin typeface="Comic Sans MS" panose="030F0702030302020204" pitchFamily="66" charset="0"/>
              </a:rPr>
              <a:t>How to Begin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idx="1"/>
          </p:nvPr>
        </p:nvSpPr>
        <p:spPr>
          <a:xfrm>
            <a:off x="1789706" y="1768371"/>
            <a:ext cx="8776692" cy="4419600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altLang="en-US" sz="2400" dirty="0">
                <a:solidFill>
                  <a:srgbClr val="006600"/>
                </a:solidFill>
              </a:rPr>
              <a:t>Library catalog </a:t>
            </a:r>
            <a:r>
              <a:rPr lang="en-US" altLang="en-US" sz="2400" dirty="0"/>
              <a:t>– Locate books relevant to your research topic – may be general textbooks in your discipline or collections of articles written by a variety of experts in the field  </a:t>
            </a:r>
            <a:endParaRPr lang="en-US" altLang="en-US" sz="2400" dirty="0">
              <a:solidFill>
                <a:srgbClr val="006600"/>
              </a:solidFill>
            </a:endParaRPr>
          </a:p>
          <a:p>
            <a:pPr algn="just">
              <a:lnSpc>
                <a:spcPct val="90000"/>
              </a:lnSpc>
            </a:pPr>
            <a:r>
              <a:rPr lang="en-US" altLang="en-US" sz="2400" dirty="0">
                <a:solidFill>
                  <a:srgbClr val="006600"/>
                </a:solidFill>
              </a:rPr>
              <a:t>Indexes and Abstracts</a:t>
            </a:r>
            <a:r>
              <a:rPr lang="en-US" altLang="en-US" sz="2400" dirty="0"/>
              <a:t> – Begin with periodical in your academic area – Computer Science</a:t>
            </a:r>
          </a:p>
          <a:p>
            <a:pPr algn="just">
              <a:lnSpc>
                <a:spcPct val="90000"/>
              </a:lnSpc>
            </a:pPr>
            <a:r>
              <a:rPr lang="en-US" altLang="en-US" sz="2400" dirty="0">
                <a:solidFill>
                  <a:srgbClr val="006600"/>
                </a:solidFill>
              </a:rPr>
              <a:t>Online databases</a:t>
            </a:r>
            <a:r>
              <a:rPr lang="en-US" altLang="en-US" sz="2400" dirty="0"/>
              <a:t> - Access to the literature which contain  collections of citations or abstracts related to various subjects and disciplines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2FC7-170C-481A-A83D-30C6D34C2EC4}" type="datetime1">
              <a:rPr lang="en-US" smtClean="0"/>
              <a:t>9/9/2025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574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149510" y="239476"/>
            <a:ext cx="7067407" cy="955964"/>
          </a:xfrm>
        </p:spPr>
        <p:txBody>
          <a:bodyPr>
            <a:normAutofit/>
          </a:bodyPr>
          <a:lstStyle/>
          <a:p>
            <a:r>
              <a:rPr lang="en-US" altLang="en-US" sz="2800" b="1" dirty="0">
                <a:solidFill>
                  <a:srgbClr val="7030A0"/>
                </a:solidFill>
                <a:latin typeface="Comic Sans MS" panose="030F0702030302020204" pitchFamily="66" charset="0"/>
              </a:rPr>
              <a:t>How to Begin</a:t>
            </a:r>
          </a:p>
        </p:txBody>
      </p:sp>
      <p:sp>
        <p:nvSpPr>
          <p:cNvPr id="146435" name="Rectangle 3"/>
          <p:cNvSpPr>
            <a:spLocks noGrp="1" noChangeArrowheads="1"/>
          </p:cNvSpPr>
          <p:nvPr>
            <p:ph idx="1"/>
          </p:nvPr>
        </p:nvSpPr>
        <p:spPr>
          <a:xfrm>
            <a:off x="1911927" y="1818167"/>
            <a:ext cx="8263431" cy="3973033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  <a:buFont typeface="Zapf Dingbats" charset="2"/>
              <a:buNone/>
            </a:pPr>
            <a:r>
              <a:rPr lang="en-US" altLang="en-US" sz="2800" dirty="0"/>
              <a:t>	In addition to using the library catalog, indexes and abstracts, and  online databases, the following strategies are suggested</a:t>
            </a:r>
          </a:p>
          <a:p>
            <a:pPr algn="just">
              <a:lnSpc>
                <a:spcPct val="90000"/>
              </a:lnSpc>
            </a:pPr>
            <a:r>
              <a:rPr lang="en-US" altLang="en-US" sz="2800" dirty="0">
                <a:solidFill>
                  <a:srgbClr val="006600"/>
                </a:solidFill>
              </a:rPr>
              <a:t>Looking at government publications</a:t>
            </a:r>
            <a:endParaRPr lang="en-US" altLang="en-US" sz="2800" dirty="0"/>
          </a:p>
          <a:p>
            <a:pPr algn="just">
              <a:lnSpc>
                <a:spcPct val="90000"/>
              </a:lnSpc>
            </a:pPr>
            <a:r>
              <a:rPr lang="en-US" altLang="en-US" sz="2800" dirty="0">
                <a:solidFill>
                  <a:srgbClr val="006600"/>
                </a:solidFill>
              </a:rPr>
              <a:t>Surfing the World Wide Web.</a:t>
            </a:r>
            <a:endParaRPr lang="en-US" altLang="en-US" sz="2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326E3-430A-456E-BCC8-E3B4FB63DD55}" type="datetime1">
              <a:rPr lang="en-US" smtClean="0"/>
              <a:t>9/9/2025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947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5088" y="342715"/>
            <a:ext cx="5155480" cy="675409"/>
          </a:xfrm>
        </p:spPr>
        <p:txBody>
          <a:bodyPr>
            <a:normAutofit/>
          </a:bodyPr>
          <a:lstStyle/>
          <a:p>
            <a:r>
              <a:rPr lang="en-GB" sz="2800" b="1" dirty="0">
                <a:latin typeface="Comic Sans MS" panose="030F0702030302020204" pitchFamily="66" charset="0"/>
              </a:rPr>
              <a:t>Contd…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3491" y="1711842"/>
            <a:ext cx="8477049" cy="3971985"/>
          </a:xfrm>
        </p:spPr>
        <p:txBody>
          <a:bodyPr>
            <a:noAutofit/>
          </a:bodyPr>
          <a:lstStyle/>
          <a:p>
            <a:r>
              <a:rPr lang="en-US" altLang="en-US" sz="2800" dirty="0">
                <a:solidFill>
                  <a:srgbClr val="006600"/>
                </a:solidFill>
              </a:rPr>
              <a:t>Using the citations and reference lists of those who have gone before you</a:t>
            </a:r>
            <a:r>
              <a:rPr lang="en-US" altLang="en-US" sz="2800" dirty="0"/>
              <a:t> – track down </a:t>
            </a:r>
            <a:r>
              <a:rPr lang="en-US" altLang="en-US" sz="2800" i="1" dirty="0"/>
              <a:t>any references that you see cited by three or more other researchers/designers</a:t>
            </a:r>
            <a:r>
              <a:rPr lang="en-US" altLang="en-US" sz="2800" dirty="0"/>
              <a:t> because such references are clearly influencing current work in your field and should not be overlooked. </a:t>
            </a:r>
            <a:endParaRPr lang="en-GB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54932-C67A-4815-A671-ACEA063BCC24}" type="datetime1">
              <a:rPr lang="en-US" smtClean="0"/>
              <a:t>9/9/2025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3112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2564" y="349828"/>
            <a:ext cx="6319262" cy="716972"/>
          </a:xfrm>
        </p:spPr>
        <p:txBody>
          <a:bodyPr>
            <a:normAutofit/>
          </a:bodyPr>
          <a:lstStyle/>
          <a:p>
            <a:r>
              <a:rPr lang="en-GB" sz="2800" b="1" dirty="0">
                <a:latin typeface="Comic Sans MS" panose="030F0702030302020204" pitchFamily="66" charset="0"/>
              </a:rPr>
              <a:t>Contd…</a:t>
            </a:r>
            <a:endParaRPr lang="en-GB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8018" y="1786270"/>
            <a:ext cx="9292373" cy="4004930"/>
          </a:xfrm>
        </p:spPr>
        <p:txBody>
          <a:bodyPr>
            <a:normAutofit/>
          </a:bodyPr>
          <a:lstStyle/>
          <a:p>
            <a:r>
              <a:rPr lang="en-US" altLang="en-US" sz="2800" dirty="0"/>
              <a:t>Whenever possible, </a:t>
            </a:r>
            <a:r>
              <a:rPr lang="en-US" altLang="en-US" sz="2800" i="1" dirty="0"/>
              <a:t>go to the original source and read it yourself</a:t>
            </a:r>
            <a:r>
              <a:rPr lang="en-US" altLang="en-US" sz="2800" dirty="0"/>
              <a:t> since most authors misrepresent the work of a particular researcher in the same, particular way; apparently, they are reading one another’s descriptions of that researcher’s work rather than reading the researcher’s own words!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39F04-C77B-4524-946D-DC1D8CCCCDFB}" type="datetime1">
              <a:rPr lang="en-US" smtClean="0"/>
              <a:t>9/9/2025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945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019353" y="393405"/>
            <a:ext cx="8148062" cy="627321"/>
          </a:xfrm>
        </p:spPr>
        <p:txBody>
          <a:bodyPr>
            <a:normAutofit/>
          </a:bodyPr>
          <a:lstStyle/>
          <a:p>
            <a:r>
              <a:rPr lang="en-US" altLang="en-US" sz="2800" b="1" dirty="0">
                <a:latin typeface="Comic Sans MS" panose="030F0702030302020204" pitchFamily="66" charset="0"/>
              </a:rPr>
              <a:t>Conducting a Literature Search</a:t>
            </a:r>
          </a:p>
        </p:txBody>
      </p:sp>
      <p:sp>
        <p:nvSpPr>
          <p:cNvPr id="140291" name="Rectangle 3"/>
          <p:cNvSpPr>
            <a:spLocks noGrp="1" noChangeArrowheads="1"/>
          </p:cNvSpPr>
          <p:nvPr>
            <p:ph idx="1"/>
          </p:nvPr>
        </p:nvSpPr>
        <p:spPr>
          <a:xfrm>
            <a:off x="1906852" y="1690577"/>
            <a:ext cx="8148062" cy="4497394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000" dirty="0"/>
              <a:t>Write the problem in its entirety at the top of the page or computer screen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000" dirty="0"/>
              <a:t>Write down each sub problem in its entirety as well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000" dirty="0"/>
              <a:t>Identify the important words and phrases in each sub problem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000" dirty="0"/>
              <a:t>Translate these words and phrases into specific topics that you must learn more about. These topics become your “agenda” as you read the literature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000" dirty="0"/>
              <a:t>Go to the library to seek out resources related to your agenda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en-US" sz="2000" dirty="0"/>
              <a:t>Read!</a:t>
            </a:r>
          </a:p>
          <a:p>
            <a:pPr marL="533400" indent="-533400" algn="just">
              <a:lnSpc>
                <a:spcPct val="150000"/>
              </a:lnSpc>
              <a:buFont typeface="Zapf Dingbats" charset="2"/>
              <a:buAutoNum type="arabicPeriod"/>
            </a:pPr>
            <a:endParaRPr lang="en-US" altLang="en-US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FF0A3-9F9F-4BDB-89A1-1DAAF19D5682}" type="datetime1">
              <a:rPr lang="en-US" smtClean="0"/>
              <a:t>9/9/2025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6335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796903" y="106330"/>
            <a:ext cx="8289044" cy="1014845"/>
          </a:xfrm>
          <a:noFill/>
        </p:spPr>
        <p:txBody>
          <a:bodyPr>
            <a:noAutofit/>
          </a:bodyPr>
          <a:lstStyle/>
          <a:p>
            <a:r>
              <a:rPr lang="en-US" altLang="en-US" sz="2800" b="1" dirty="0">
                <a:solidFill>
                  <a:srgbClr val="7030A0"/>
                </a:solidFill>
                <a:latin typeface="Comic Sans MS" panose="030F0702030302020204" pitchFamily="66" charset="0"/>
              </a:rPr>
              <a:t>Evaluating, Organizing, and Synthesizing the Literature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idx="1"/>
          </p:nvPr>
        </p:nvSpPr>
        <p:spPr>
          <a:xfrm>
            <a:off x="1579419" y="1828800"/>
            <a:ext cx="8986979" cy="3962401"/>
          </a:xfrm>
        </p:spPr>
        <p:txBody>
          <a:bodyPr>
            <a:normAutofit/>
          </a:bodyPr>
          <a:lstStyle/>
          <a:p>
            <a:pPr algn="just"/>
            <a:r>
              <a:rPr lang="en-US" altLang="en-US" sz="2400" dirty="0"/>
              <a:t>Too many literature reviews do nothing more than report what other people have done and said</a:t>
            </a:r>
          </a:p>
          <a:p>
            <a:pPr algn="just"/>
            <a:r>
              <a:rPr lang="en-US" altLang="en-US" sz="2400" dirty="0"/>
              <a:t>In a good literature review, the reviewer doesn’t merely report the related literature</a:t>
            </a:r>
          </a:p>
          <a:p>
            <a:pPr algn="just"/>
            <a:r>
              <a:rPr lang="en-US" altLang="en-US" sz="2400" dirty="0"/>
              <a:t>He or she also </a:t>
            </a:r>
            <a:r>
              <a:rPr lang="en-US" altLang="en-US" sz="2400" i="1" dirty="0">
                <a:solidFill>
                  <a:schemeClr val="accent1"/>
                </a:solidFill>
              </a:rPr>
              <a:t>evaluates</a:t>
            </a:r>
            <a:r>
              <a:rPr lang="en-US" altLang="en-US" sz="2400" i="1" dirty="0"/>
              <a:t>,(judge, value of soothing) </a:t>
            </a:r>
            <a:r>
              <a:rPr lang="en-US" altLang="en-US" sz="2400" i="1" dirty="0">
                <a:solidFill>
                  <a:schemeClr val="accent2"/>
                </a:solidFill>
              </a:rPr>
              <a:t>organizes</a:t>
            </a:r>
            <a:r>
              <a:rPr lang="en-US" altLang="en-US" sz="2400" i="1" dirty="0"/>
              <a:t>, and </a:t>
            </a:r>
            <a:r>
              <a:rPr lang="en-US" altLang="en-US" sz="2400" i="1" dirty="0">
                <a:solidFill>
                  <a:srgbClr val="006600"/>
                </a:solidFill>
              </a:rPr>
              <a:t>synthesizes(combine, bring together)</a:t>
            </a:r>
            <a:r>
              <a:rPr lang="en-US" altLang="en-US" sz="2400" i="1" dirty="0"/>
              <a:t> what others have done</a:t>
            </a:r>
          </a:p>
          <a:p>
            <a:pPr algn="just"/>
            <a:r>
              <a:rPr lang="en-US" altLang="en-US" sz="2400" dirty="0"/>
              <a:t>Do not only read other people’s work but you must also critically evaluate their methods and conclusions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B7AF8-22A1-4D05-B982-7D46DA4DB2F6}" type="datetime1">
              <a:rPr lang="en-US" smtClean="0"/>
              <a:t>9/9/2025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4439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872761" y="223283"/>
            <a:ext cx="8798703" cy="659943"/>
          </a:xfrm>
        </p:spPr>
        <p:txBody>
          <a:bodyPr>
            <a:normAutofit/>
          </a:bodyPr>
          <a:lstStyle/>
          <a:p>
            <a:r>
              <a:rPr lang="en-US" altLang="en-US" sz="2800" b="1" dirty="0">
                <a:solidFill>
                  <a:srgbClr val="7030A0"/>
                </a:solidFill>
                <a:latin typeface="Comic Sans MS" panose="030F0702030302020204" pitchFamily="66" charset="0"/>
              </a:rPr>
              <a:t>Contd…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idx="1"/>
          </p:nvPr>
        </p:nvSpPr>
        <p:spPr>
          <a:xfrm>
            <a:off x="1771712" y="1637413"/>
            <a:ext cx="8988437" cy="4412279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altLang="en-US" sz="3000" i="1" dirty="0"/>
              <a:t>Never take other people’s conclusions at face value; determine for yourself whether their conclusions are justified based on the data presented</a:t>
            </a:r>
          </a:p>
          <a:p>
            <a:pPr algn="just"/>
            <a:r>
              <a:rPr lang="en-US" altLang="en-US" sz="3000" dirty="0"/>
              <a:t>In addition to evaluating what you read, you must also </a:t>
            </a:r>
            <a:r>
              <a:rPr lang="en-US" altLang="en-US" sz="3000" i="1" dirty="0"/>
              <a:t>organize</a:t>
            </a:r>
            <a:r>
              <a:rPr lang="en-US" altLang="en-US" sz="3000" dirty="0"/>
              <a:t> the ideas you encounter during your review</a:t>
            </a:r>
          </a:p>
          <a:p>
            <a:pPr algn="just"/>
            <a:r>
              <a:rPr lang="en-US" altLang="en-US" sz="3000" dirty="0"/>
              <a:t>The sub problems within your main problem should, in many cases, provide a general organizational scheme you can use</a:t>
            </a:r>
          </a:p>
          <a:p>
            <a:pPr algn="just"/>
            <a:r>
              <a:rPr lang="en-US" altLang="en-US" sz="3000" dirty="0"/>
              <a:t>Looking at how other authors have organized literature reviews related to your topic may be helpful as well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4B28E-AE84-4B07-BAB1-0DB11DAE60AF}" type="datetime1">
              <a:rPr lang="en-US" smtClean="0"/>
              <a:t>9/9/2025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031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407651" y="361757"/>
            <a:ext cx="6506298" cy="852055"/>
          </a:xfrm>
        </p:spPr>
        <p:txBody>
          <a:bodyPr/>
          <a:lstStyle/>
          <a:p>
            <a:r>
              <a:rPr lang="en-US" altLang="en-US" sz="3200" b="1" dirty="0">
                <a:solidFill>
                  <a:srgbClr val="7030A0"/>
                </a:solidFill>
                <a:latin typeface="Comic Sans MS" panose="030F0702030302020204" pitchFamily="66" charset="0"/>
              </a:rPr>
              <a:t>Contd…</a:t>
            </a:r>
          </a:p>
        </p:txBody>
      </p:sp>
      <p:sp>
        <p:nvSpPr>
          <p:cNvPr id="156675" name="Rectangle 1027"/>
          <p:cNvSpPr>
            <a:spLocks noGrp="1" noChangeArrowheads="1"/>
          </p:cNvSpPr>
          <p:nvPr>
            <p:ph idx="1"/>
          </p:nvPr>
        </p:nvSpPr>
        <p:spPr>
          <a:xfrm>
            <a:off x="1859973" y="1754371"/>
            <a:ext cx="8878911" cy="4036829"/>
          </a:xfrm>
        </p:spPr>
        <p:txBody>
          <a:bodyPr>
            <a:normAutofit fontScale="92500" lnSpcReduction="10000"/>
          </a:bodyPr>
          <a:lstStyle/>
          <a:p>
            <a:pPr marL="533400" indent="-533400"/>
            <a:r>
              <a:rPr lang="en-US" altLang="en-US" sz="2400" dirty="0"/>
              <a:t>Finally, and perhaps most importantly, you must </a:t>
            </a:r>
            <a:r>
              <a:rPr lang="en-US" altLang="en-US" sz="2400" i="1" dirty="0"/>
              <a:t>synthesize</a:t>
            </a:r>
            <a:r>
              <a:rPr lang="en-US" altLang="en-US" sz="2400" dirty="0"/>
              <a:t> what you have learned from your review</a:t>
            </a:r>
          </a:p>
          <a:p>
            <a:pPr marL="533400" indent="-533400"/>
            <a:r>
              <a:rPr lang="en-US" altLang="en-US" sz="2400" dirty="0"/>
              <a:t>In other words, you must pull together the diverse perspectives and research results you have read into a cohesive whole</a:t>
            </a:r>
          </a:p>
          <a:p>
            <a:pPr marL="533400" indent="-533400"/>
            <a:r>
              <a:rPr lang="en-US" altLang="en-US" sz="2400" dirty="0"/>
              <a:t>Here are some examples of what you might do: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en-US" sz="2000" dirty="0"/>
              <a:t>Compare and contrast varying theoretical perspectives on the topic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en-US" sz="2000" dirty="0"/>
              <a:t>Show how approaches to the topic have changed over time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altLang="en-US" sz="2000" dirty="0"/>
              <a:t>Describe general trends in the findings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altLang="en-US" sz="2000" dirty="0"/>
              <a:t>Identify discrepant or contradictory findings, and suggest possible explanations for such discrepancies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altLang="en-US" sz="2000" dirty="0"/>
              <a:t>Identify general themes(</a:t>
            </a:r>
            <a:r>
              <a:rPr lang="en-US" altLang="en-US" sz="2000" dirty="0" err="1"/>
              <a:t>topics,subjects</a:t>
            </a:r>
            <a:r>
              <a:rPr lang="en-US" altLang="en-US" sz="2000" dirty="0"/>
              <a:t>) that run throughout the literature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47092-10BE-4A4B-BE71-9A47CEB13283}" type="datetime1">
              <a:rPr lang="en-US" smtClean="0"/>
              <a:t>9/9/2025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7974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2541181" y="314998"/>
            <a:ext cx="5698328" cy="751801"/>
          </a:xfrm>
        </p:spPr>
        <p:txBody>
          <a:bodyPr>
            <a:normAutofit/>
          </a:bodyPr>
          <a:lstStyle/>
          <a:p>
            <a:r>
              <a:rPr lang="en-US" altLang="en-US" sz="3200" b="1" dirty="0">
                <a:solidFill>
                  <a:srgbClr val="7030A0"/>
                </a:solidFill>
                <a:latin typeface="Comic Sans MS" panose="030F0702030302020204" pitchFamily="66" charset="0"/>
              </a:rPr>
              <a:t>Contd..</a:t>
            </a:r>
          </a:p>
        </p:txBody>
      </p:sp>
      <p:sp>
        <p:nvSpPr>
          <p:cNvPr id="157699" name="Rectangle 3"/>
          <p:cNvSpPr>
            <a:spLocks noGrp="1" noChangeArrowheads="1"/>
          </p:cNvSpPr>
          <p:nvPr>
            <p:ph idx="1"/>
          </p:nvPr>
        </p:nvSpPr>
        <p:spPr>
          <a:xfrm>
            <a:off x="1850065" y="1924493"/>
            <a:ext cx="8218968" cy="3866708"/>
          </a:xfrm>
        </p:spPr>
        <p:txBody>
          <a:bodyPr>
            <a:normAutofit/>
          </a:bodyPr>
          <a:lstStyle/>
          <a:p>
            <a:pPr marL="533400" indent="-533400" algn="just">
              <a:buNone/>
            </a:pPr>
            <a:endParaRPr lang="en-US" altLang="en-US" sz="2400" dirty="0"/>
          </a:p>
          <a:p>
            <a:pPr marL="533400" indent="-533400" algn="just"/>
            <a:r>
              <a:rPr lang="en-US" altLang="en-US" sz="2400" dirty="0"/>
              <a:t>When you write a literature review that does such things, you have contributed something new to the knowledge in the field even </a:t>
            </a:r>
            <a:r>
              <a:rPr lang="en-US" altLang="en-US" sz="2400" i="1" dirty="0"/>
              <a:t>before</a:t>
            </a:r>
            <a:r>
              <a:rPr lang="en-US" altLang="en-US" sz="2400" dirty="0"/>
              <a:t> you have conducted your own study project</a:t>
            </a:r>
          </a:p>
          <a:p>
            <a:pPr marL="533400" indent="-533400" algn="just"/>
            <a:r>
              <a:rPr lang="en-US" altLang="en-US" sz="2400" dirty="0"/>
              <a:t>In fact, a literature review that makes such a contribution is often publishable in its own right</a:t>
            </a:r>
          </a:p>
          <a:p>
            <a:pPr marL="533400" indent="-533400">
              <a:buFont typeface="Zapf Dingbats" charset="2"/>
              <a:buAutoNum type="arabicPeriod" startAt="4"/>
            </a:pPr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2260C-948F-4E59-AF9A-576AFAB66ADC}" type="datetime1">
              <a:rPr lang="en-US" smtClean="0"/>
              <a:t>9/9/2025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4241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450666" y="297712"/>
            <a:ext cx="6371216" cy="637470"/>
          </a:xfrm>
        </p:spPr>
        <p:txBody>
          <a:bodyPr>
            <a:normAutofit/>
          </a:bodyPr>
          <a:lstStyle/>
          <a:p>
            <a:r>
              <a:rPr lang="en-US" altLang="en-US" sz="2400" b="1" dirty="0">
                <a:solidFill>
                  <a:srgbClr val="7030A0"/>
                </a:solidFill>
                <a:latin typeface="Comic Sans MS" panose="030F0702030302020204" pitchFamily="66" charset="0"/>
              </a:rPr>
              <a:t>Writing LR - Guidelines</a:t>
            </a:r>
          </a:p>
        </p:txBody>
      </p:sp>
      <p:sp>
        <p:nvSpPr>
          <p:cNvPr id="148483" name="Rectangle 3"/>
          <p:cNvSpPr>
            <a:spLocks noGrp="1" noChangeArrowheads="1"/>
          </p:cNvSpPr>
          <p:nvPr>
            <p:ph idx="1"/>
          </p:nvPr>
        </p:nvSpPr>
        <p:spPr>
          <a:xfrm>
            <a:off x="2067791" y="1796902"/>
            <a:ext cx="8498607" cy="4111256"/>
          </a:xfrm>
        </p:spPr>
        <p:txBody>
          <a:bodyPr>
            <a:normAutofit/>
          </a:bodyPr>
          <a:lstStyle/>
          <a:p>
            <a:pPr marL="533400" indent="-533400">
              <a:lnSpc>
                <a:spcPct val="90000"/>
              </a:lnSpc>
              <a:buFont typeface="Zapf Dingbats" charset="2"/>
              <a:buAutoNum type="arabicPeriod"/>
            </a:pPr>
            <a:r>
              <a:rPr lang="en-US" altLang="en-US" sz="2000" dirty="0"/>
              <a:t>Get the proper </a:t>
            </a:r>
            <a:r>
              <a:rPr lang="en-US" altLang="en-US" sz="2000" dirty="0">
                <a:solidFill>
                  <a:schemeClr val="accent2"/>
                </a:solidFill>
              </a:rPr>
              <a:t>psychological orientation</a:t>
            </a:r>
          </a:p>
          <a:p>
            <a:pPr marL="533400" indent="-533400">
              <a:lnSpc>
                <a:spcPct val="90000"/>
              </a:lnSpc>
              <a:buFont typeface="Zapf Dingbats" charset="2"/>
              <a:buAutoNum type="arabicPeriod"/>
            </a:pPr>
            <a:r>
              <a:rPr lang="en-US" altLang="en-US" sz="2000" dirty="0"/>
              <a:t>Have a </a:t>
            </a:r>
            <a:r>
              <a:rPr lang="en-US" altLang="en-US" sz="2000" dirty="0">
                <a:solidFill>
                  <a:schemeClr val="accent2"/>
                </a:solidFill>
              </a:rPr>
              <a:t>plan</a:t>
            </a:r>
            <a:endParaRPr lang="en-US" altLang="en-US" sz="2000" dirty="0"/>
          </a:p>
          <a:p>
            <a:pPr marL="533400" indent="-533400">
              <a:lnSpc>
                <a:spcPct val="90000"/>
              </a:lnSpc>
              <a:buFont typeface="Zapf Dingbats" charset="2"/>
              <a:buAutoNum type="arabicPeriod"/>
            </a:pPr>
            <a:r>
              <a:rPr lang="en-US" altLang="en-US" sz="2000" dirty="0" err="1">
                <a:solidFill>
                  <a:schemeClr val="accent2"/>
                </a:solidFill>
              </a:rPr>
              <a:t>Emphasise</a:t>
            </a:r>
            <a:r>
              <a:rPr lang="en-US" altLang="en-US" sz="2000" dirty="0">
                <a:solidFill>
                  <a:schemeClr val="accent2"/>
                </a:solidFill>
              </a:rPr>
              <a:t> relatedness</a:t>
            </a:r>
          </a:p>
          <a:p>
            <a:pPr marL="533400" indent="-533400">
              <a:lnSpc>
                <a:spcPct val="90000"/>
              </a:lnSpc>
              <a:buFont typeface="Zapf Dingbats" charset="2"/>
              <a:buAutoNum type="arabicPeriod"/>
            </a:pPr>
            <a:r>
              <a:rPr lang="en-US" altLang="en-US" sz="2000" dirty="0">
                <a:solidFill>
                  <a:schemeClr val="accent2"/>
                </a:solidFill>
              </a:rPr>
              <a:t>Give credit </a:t>
            </a:r>
            <a:r>
              <a:rPr lang="en-US" altLang="en-US" sz="2000" dirty="0"/>
              <a:t>where credit is due</a:t>
            </a:r>
          </a:p>
          <a:p>
            <a:pPr marL="533400" indent="-533400">
              <a:lnSpc>
                <a:spcPct val="90000"/>
              </a:lnSpc>
              <a:buFont typeface="Zapf Dingbats" charset="2"/>
              <a:buAutoNum type="arabicPeriod"/>
            </a:pPr>
            <a:r>
              <a:rPr lang="en-US" altLang="en-US" sz="2000" dirty="0"/>
              <a:t>Review the literature. </a:t>
            </a:r>
            <a:r>
              <a:rPr lang="en-US" altLang="en-US" sz="2000" dirty="0">
                <a:solidFill>
                  <a:schemeClr val="accent2"/>
                </a:solidFill>
              </a:rPr>
              <a:t>Don’t reproduce it!</a:t>
            </a:r>
          </a:p>
          <a:p>
            <a:pPr marL="533400" indent="-533400">
              <a:lnSpc>
                <a:spcPct val="90000"/>
              </a:lnSpc>
              <a:buFont typeface="Zapf Dingbats" charset="2"/>
              <a:buAutoNum type="arabicPeriod"/>
            </a:pPr>
            <a:r>
              <a:rPr lang="en-US" altLang="en-US" sz="2000" dirty="0" err="1">
                <a:solidFill>
                  <a:schemeClr val="accent2"/>
                </a:solidFill>
              </a:rPr>
              <a:t>Summarise</a:t>
            </a:r>
            <a:r>
              <a:rPr lang="en-US" altLang="en-US" sz="2000" dirty="0">
                <a:solidFill>
                  <a:schemeClr val="accent2"/>
                </a:solidFill>
              </a:rPr>
              <a:t> </a:t>
            </a:r>
            <a:r>
              <a:rPr lang="en-US" altLang="en-US" sz="2000" dirty="0"/>
              <a:t>what you have read</a:t>
            </a:r>
          </a:p>
          <a:p>
            <a:pPr marL="533400" indent="-533400">
              <a:lnSpc>
                <a:spcPct val="90000"/>
              </a:lnSpc>
              <a:buFont typeface="Zapf Dingbats" charset="2"/>
              <a:buAutoNum type="arabicPeriod"/>
            </a:pPr>
            <a:r>
              <a:rPr lang="en-US" altLang="en-US" sz="2000" dirty="0"/>
              <a:t>Remember that your</a:t>
            </a:r>
            <a:r>
              <a:rPr lang="en-US" altLang="en-US" sz="2000" dirty="0">
                <a:solidFill>
                  <a:schemeClr val="accent2"/>
                </a:solidFill>
              </a:rPr>
              <a:t> first draft </a:t>
            </a:r>
            <a:r>
              <a:rPr lang="en-US" altLang="en-US" sz="2000" dirty="0"/>
              <a:t>will almost certainly</a:t>
            </a:r>
            <a:r>
              <a:rPr lang="en-US" altLang="en-US" sz="2000" dirty="0">
                <a:solidFill>
                  <a:schemeClr val="accent2"/>
                </a:solidFill>
              </a:rPr>
              <a:t> NOT be your last draft</a:t>
            </a:r>
          </a:p>
          <a:p>
            <a:pPr marL="533400" indent="-533400">
              <a:lnSpc>
                <a:spcPct val="90000"/>
              </a:lnSpc>
              <a:buFont typeface="Zapf Dingbats" charset="2"/>
              <a:buAutoNum type="arabicPeriod"/>
            </a:pPr>
            <a:r>
              <a:rPr lang="en-US" altLang="en-US" sz="2000" dirty="0"/>
              <a:t>Ask others for</a:t>
            </a:r>
            <a:r>
              <a:rPr lang="en-US" altLang="en-US" sz="2000" dirty="0">
                <a:solidFill>
                  <a:schemeClr val="accent2"/>
                </a:solidFill>
              </a:rPr>
              <a:t> advice </a:t>
            </a:r>
            <a:r>
              <a:rPr lang="en-US" altLang="en-US" sz="2000" dirty="0"/>
              <a:t>and give you </a:t>
            </a:r>
            <a:r>
              <a:rPr lang="en-US" altLang="en-US" sz="2000" dirty="0">
                <a:solidFill>
                  <a:schemeClr val="accent2"/>
                </a:solidFill>
              </a:rPr>
              <a:t> feedback</a:t>
            </a:r>
          </a:p>
          <a:p>
            <a:pPr marL="533400" indent="-533400">
              <a:lnSpc>
                <a:spcPct val="90000"/>
              </a:lnSpc>
              <a:buFont typeface="Zapf Dingbats" charset="2"/>
              <a:buAutoNum type="arabicPeriod"/>
            </a:pPr>
            <a:endParaRPr lang="en-US" altLang="en-US" sz="2000" dirty="0">
              <a:solidFill>
                <a:schemeClr val="accent2"/>
              </a:solidFill>
            </a:endParaRPr>
          </a:p>
          <a:p>
            <a:pPr marL="533400" indent="-533400">
              <a:lnSpc>
                <a:spcPct val="90000"/>
              </a:lnSpc>
              <a:buNone/>
            </a:pPr>
            <a:endParaRPr lang="en-US" altLang="en-US" sz="3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790F2-B627-4E61-80D2-7AD41E478647}" type="datetime1">
              <a:rPr lang="en-US" smtClean="0"/>
              <a:t>9/9/2025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012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>
          <a:xfrm>
            <a:off x="1839190" y="197427"/>
            <a:ext cx="6869980" cy="674444"/>
          </a:xfrm>
        </p:spPr>
        <p:txBody>
          <a:bodyPr>
            <a:normAutofit/>
          </a:bodyPr>
          <a:lstStyle/>
          <a:p>
            <a:r>
              <a:rPr lang="en-US" altLang="en-US" sz="2800" b="1" dirty="0">
                <a:solidFill>
                  <a:srgbClr val="7030A0"/>
                </a:solidFill>
                <a:latin typeface="Comic Sans MS" panose="030F0702030302020204" pitchFamily="66" charset="0"/>
              </a:rPr>
              <a:t>Psychological Orientation</a:t>
            </a:r>
          </a:p>
        </p:txBody>
      </p:sp>
      <p:sp>
        <p:nvSpPr>
          <p:cNvPr id="125955" name="Rectangle 3"/>
          <p:cNvSpPr>
            <a:spLocks noGrp="1" noChangeArrowheads="1"/>
          </p:cNvSpPr>
          <p:nvPr>
            <p:ph idx="1"/>
          </p:nvPr>
        </p:nvSpPr>
        <p:spPr>
          <a:xfrm>
            <a:off x="1839191" y="1562986"/>
            <a:ext cx="9101712" cy="4214361"/>
          </a:xfrm>
        </p:spPr>
        <p:txBody>
          <a:bodyPr>
            <a:normAutofit/>
          </a:bodyPr>
          <a:lstStyle/>
          <a:p>
            <a:r>
              <a:rPr lang="en-US" altLang="en-US" sz="2800" dirty="0"/>
              <a:t>Get the proper </a:t>
            </a:r>
            <a:r>
              <a:rPr lang="en-US" altLang="en-US" sz="2800" dirty="0">
                <a:solidFill>
                  <a:schemeClr val="accent2"/>
                </a:solidFill>
              </a:rPr>
              <a:t>psychological orientation</a:t>
            </a:r>
            <a:r>
              <a:rPr lang="en-US" altLang="en-US" sz="2800" dirty="0"/>
              <a:t> </a:t>
            </a:r>
          </a:p>
          <a:p>
            <a:pPr lvl="1"/>
            <a:r>
              <a:rPr lang="en-US" altLang="en-US" sz="2800" dirty="0"/>
              <a:t>Be clear in your thinking – know precisely what you are attempting to do</a:t>
            </a:r>
          </a:p>
          <a:p>
            <a:pPr lvl="1"/>
            <a:r>
              <a:rPr lang="en-US" altLang="en-US" sz="2800" dirty="0"/>
              <a:t>LR is a discussion of the studies, research reports, scholarly or broad spectrum writing</a:t>
            </a:r>
          </a:p>
          <a:p>
            <a:pPr lvl="1"/>
            <a:r>
              <a:rPr lang="en-US" altLang="en-US" sz="2800" dirty="0"/>
              <a:t>Consider discussion with a peer about what others have written in relation to what you plan to do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E403C2-60A4-4615-809C-60F84DC8A0F4}" type="datetime1">
              <a:rPr lang="en-US" smtClean="0"/>
              <a:t>9/9/2025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220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419494" y="148856"/>
            <a:ext cx="6797244" cy="807108"/>
          </a:xfrm>
        </p:spPr>
        <p:txBody>
          <a:bodyPr>
            <a:normAutofit/>
          </a:bodyPr>
          <a:lstStyle/>
          <a:p>
            <a:r>
              <a:rPr lang="en-US" altLang="en-US" sz="2800" b="1" dirty="0">
                <a:latin typeface="Comic Sans MS" panose="030F0702030302020204" pitchFamily="66" charset="0"/>
              </a:rPr>
              <a:t>Have a Plan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idx="1"/>
          </p:nvPr>
        </p:nvSpPr>
        <p:spPr>
          <a:xfrm>
            <a:off x="1922319" y="1722473"/>
            <a:ext cx="8518853" cy="4144657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altLang="en-US" sz="2400" dirty="0"/>
              <a:t>Have a </a:t>
            </a:r>
            <a:r>
              <a:rPr lang="en-US" altLang="en-US" sz="2400" dirty="0">
                <a:solidFill>
                  <a:schemeClr val="accent2"/>
                </a:solidFill>
              </a:rPr>
              <a:t>plan</a:t>
            </a:r>
            <a:r>
              <a:rPr lang="en-US" altLang="en-US" sz="2400" dirty="0"/>
              <a:t> – Writing a review of the related literature takes planning and organization</a:t>
            </a:r>
          </a:p>
          <a:p>
            <a:pPr algn="just">
              <a:lnSpc>
                <a:spcPct val="90000"/>
              </a:lnSpc>
            </a:pPr>
            <a:r>
              <a:rPr lang="en-US" altLang="en-US" sz="2400" dirty="0"/>
              <a:t>This effort requires </a:t>
            </a:r>
            <a:r>
              <a:rPr lang="en-US" altLang="en-US" sz="2400" dirty="0">
                <a:solidFill>
                  <a:schemeClr val="accent1"/>
                </a:solidFill>
              </a:rPr>
              <a:t>thought</a:t>
            </a:r>
            <a:r>
              <a:rPr lang="en-US" altLang="en-US" sz="2400" dirty="0"/>
              <a:t>, </a:t>
            </a:r>
            <a:r>
              <a:rPr lang="en-US" altLang="en-US" sz="2400" dirty="0">
                <a:solidFill>
                  <a:srgbClr val="006600"/>
                </a:solidFill>
              </a:rPr>
              <a:t>structure</a:t>
            </a:r>
            <a:r>
              <a:rPr lang="en-US" altLang="en-US" sz="2400" dirty="0"/>
              <a:t>, and </a:t>
            </a:r>
            <a:r>
              <a:rPr lang="en-US" altLang="en-US" sz="2400" dirty="0">
                <a:solidFill>
                  <a:schemeClr val="accent2"/>
                </a:solidFill>
              </a:rPr>
              <a:t>coherence </a:t>
            </a:r>
            <a:r>
              <a:rPr lang="en-US" altLang="en-US" sz="2400" dirty="0"/>
              <a:t>(connected logically; clear and easy to understand)</a:t>
            </a:r>
          </a:p>
          <a:p>
            <a:pPr algn="just">
              <a:lnSpc>
                <a:spcPct val="90000"/>
              </a:lnSpc>
            </a:pPr>
            <a:r>
              <a:rPr lang="en-US" altLang="en-US" sz="2400" dirty="0"/>
              <a:t>Should outline what you plan to say before beginning writing the literature review</a:t>
            </a:r>
          </a:p>
          <a:p>
            <a:pPr algn="just">
              <a:lnSpc>
                <a:spcPct val="90000"/>
              </a:lnSpc>
            </a:pPr>
            <a:r>
              <a:rPr lang="en-US" altLang="en-US" sz="2400" dirty="0"/>
              <a:t>The problem itself  should </a:t>
            </a:r>
            <a:r>
              <a:rPr lang="en-US" altLang="en-US" sz="2400" dirty="0">
                <a:solidFill>
                  <a:schemeClr val="accent1"/>
                </a:solidFill>
              </a:rPr>
              <a:t>suggest relevant areas</a:t>
            </a:r>
            <a:r>
              <a:rPr lang="en-US" altLang="en-US" sz="2400" dirty="0"/>
              <a:t> for discussion and </a:t>
            </a:r>
            <a:r>
              <a:rPr lang="en-US" altLang="en-US" sz="2400" dirty="0">
                <a:solidFill>
                  <a:schemeClr val="accent2"/>
                </a:solidFill>
              </a:rPr>
              <a:t>indicate the direction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74C46-BC92-4BFC-B155-FAACA784BB73}" type="datetime1">
              <a:rPr lang="en-US" smtClean="0"/>
              <a:t>9/9/2025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5194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440276" y="212651"/>
            <a:ext cx="7368744" cy="712140"/>
          </a:xfrm>
        </p:spPr>
        <p:txBody>
          <a:bodyPr>
            <a:normAutofit/>
          </a:bodyPr>
          <a:lstStyle/>
          <a:p>
            <a:r>
              <a:rPr lang="en-US" altLang="en-US" sz="2400" b="1" dirty="0">
                <a:latin typeface="Comic Sans MS" panose="030F0702030302020204" pitchFamily="66" charset="0"/>
              </a:rPr>
              <a:t>Emphasize Relatedness</a:t>
            </a:r>
          </a:p>
        </p:txBody>
      </p:sp>
      <p:sp>
        <p:nvSpPr>
          <p:cNvPr id="141315" name="Rectangle 3"/>
          <p:cNvSpPr>
            <a:spLocks noGrp="1" noChangeArrowheads="1"/>
          </p:cNvSpPr>
          <p:nvPr>
            <p:ph idx="1"/>
          </p:nvPr>
        </p:nvSpPr>
        <p:spPr>
          <a:xfrm>
            <a:off x="1672936" y="1945757"/>
            <a:ext cx="9469985" cy="3845443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altLang="en-US" sz="2800" dirty="0">
                <a:solidFill>
                  <a:schemeClr val="accent2"/>
                </a:solidFill>
              </a:rPr>
              <a:t>Emphasize relatedness</a:t>
            </a:r>
            <a:r>
              <a:rPr lang="en-US" altLang="en-US" sz="2800" dirty="0"/>
              <a:t> – keep your reader constantly aware of how the literature you are discussing is related to your problem</a:t>
            </a:r>
          </a:p>
          <a:p>
            <a:pPr algn="just">
              <a:lnSpc>
                <a:spcPct val="90000"/>
              </a:lnSpc>
            </a:pPr>
            <a:r>
              <a:rPr lang="en-US" altLang="en-US" sz="2800" dirty="0"/>
              <a:t>Point out </a:t>
            </a:r>
            <a:r>
              <a:rPr lang="en-US" altLang="en-US" sz="2800" dirty="0">
                <a:solidFill>
                  <a:schemeClr val="accent1"/>
                </a:solidFill>
              </a:rPr>
              <a:t>precisely </a:t>
            </a:r>
            <a:r>
              <a:rPr lang="en-US" altLang="en-US" sz="2800" dirty="0"/>
              <a:t>what the relationship is </a:t>
            </a:r>
          </a:p>
          <a:p>
            <a:pPr algn="just">
              <a:lnSpc>
                <a:spcPct val="90000"/>
              </a:lnSpc>
            </a:pPr>
            <a:r>
              <a:rPr lang="en-US" altLang="en-US" sz="2800" dirty="0"/>
              <a:t>Literature reviews should never be a chain of isolated </a:t>
            </a:r>
            <a:r>
              <a:rPr lang="en-US" altLang="en-US" sz="2800" dirty="0">
                <a:solidFill>
                  <a:schemeClr val="accent2"/>
                </a:solidFill>
              </a:rPr>
              <a:t>summaries of the writings</a:t>
            </a:r>
            <a:r>
              <a:rPr lang="en-US" altLang="en-US" sz="2800" dirty="0"/>
              <a:t> of others.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FC8D1-B6F0-4C34-AB96-5E220BEDCA91}" type="datetime1">
              <a:rPr lang="en-US" smtClean="0"/>
              <a:t>9/9/2025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6423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096169" y="304903"/>
            <a:ext cx="8248345" cy="848007"/>
          </a:xfrm>
        </p:spPr>
        <p:txBody>
          <a:bodyPr>
            <a:normAutofit/>
          </a:bodyPr>
          <a:lstStyle/>
          <a:p>
            <a:r>
              <a:rPr lang="en-US" altLang="en-US" sz="2800" b="1" dirty="0">
                <a:latin typeface="Comic Sans MS" panose="030F0702030302020204" pitchFamily="66" charset="0"/>
              </a:rPr>
              <a:t>Give Credit where Credit is Due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idx="1"/>
          </p:nvPr>
        </p:nvSpPr>
        <p:spPr>
          <a:xfrm>
            <a:off x="1711844" y="1828800"/>
            <a:ext cx="8931348" cy="3962400"/>
          </a:xfrm>
        </p:spPr>
        <p:txBody>
          <a:bodyPr>
            <a:noAutofit/>
          </a:bodyPr>
          <a:lstStyle/>
          <a:p>
            <a:pPr algn="just"/>
            <a:r>
              <a:rPr lang="en-US" altLang="en-US" sz="2400" dirty="0"/>
              <a:t>In writing the literature review, always, </a:t>
            </a:r>
            <a:r>
              <a:rPr lang="en-US" altLang="en-US" sz="2400" i="1" dirty="0"/>
              <a:t>always</a:t>
            </a:r>
            <a:r>
              <a:rPr lang="en-US" altLang="en-US" sz="2400" dirty="0"/>
              <a:t> credit those authors whose ideas you are using or whose research results you are reporting</a:t>
            </a:r>
          </a:p>
          <a:p>
            <a:pPr algn="just"/>
            <a:r>
              <a:rPr lang="en-US" altLang="en-US" sz="2400" dirty="0"/>
              <a:t>The specific way in which you do this, e.g. with footnotes or with citations in parentheses in the text itself</a:t>
            </a:r>
          </a:p>
          <a:p>
            <a:pPr algn="just"/>
            <a:r>
              <a:rPr lang="en-US" altLang="en-US" sz="2400" dirty="0"/>
              <a:t>You may even want to present other authors’ actual words, either within quotation marks (for a  phrase or sentence) or in an indented passage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464E4-8EA0-4AA3-8424-9AFDD292DB79}" type="datetime1">
              <a:rPr lang="en-US" smtClean="0"/>
              <a:t>9/9/2025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9876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858388" y="145469"/>
            <a:ext cx="8677998" cy="810491"/>
          </a:xfrm>
        </p:spPr>
        <p:txBody>
          <a:bodyPr>
            <a:normAutofit/>
          </a:bodyPr>
          <a:lstStyle/>
          <a:p>
            <a:r>
              <a:rPr lang="en-US" altLang="en-US" sz="2800" b="1" dirty="0">
                <a:solidFill>
                  <a:srgbClr val="7030A0"/>
                </a:solidFill>
                <a:latin typeface="Comic Sans MS" panose="030F0702030302020204" pitchFamily="66" charset="0"/>
              </a:rPr>
              <a:t>Don’t Reproduce the Literature!</a:t>
            </a:r>
          </a:p>
        </p:txBody>
      </p:sp>
      <p:sp>
        <p:nvSpPr>
          <p:cNvPr id="142339" name="Rectangle 3"/>
          <p:cNvSpPr>
            <a:spLocks noGrp="1" noChangeArrowheads="1"/>
          </p:cNvSpPr>
          <p:nvPr>
            <p:ph idx="1"/>
          </p:nvPr>
        </p:nvSpPr>
        <p:spPr>
          <a:xfrm>
            <a:off x="1548245" y="1839433"/>
            <a:ext cx="9018153" cy="3951767"/>
          </a:xfrm>
        </p:spPr>
        <p:txBody>
          <a:bodyPr>
            <a:normAutofit/>
          </a:bodyPr>
          <a:lstStyle/>
          <a:p>
            <a:pPr algn="just"/>
            <a:r>
              <a:rPr lang="en-US" altLang="en-US" sz="2400" dirty="0"/>
              <a:t>Review the literature. </a:t>
            </a:r>
            <a:r>
              <a:rPr lang="en-US" altLang="en-US" sz="2400" dirty="0">
                <a:solidFill>
                  <a:schemeClr val="accent2"/>
                </a:solidFill>
              </a:rPr>
              <a:t>Don’t reproduce it</a:t>
            </a:r>
            <a:r>
              <a:rPr lang="en-US" altLang="en-US" sz="2400" dirty="0"/>
              <a:t> – writing LR is one of the most challenging works– requires that you keep a clear focus </a:t>
            </a:r>
          </a:p>
          <a:p>
            <a:pPr algn="just"/>
            <a:r>
              <a:rPr lang="en-US" altLang="en-US" sz="2400" dirty="0">
                <a:solidFill>
                  <a:schemeClr val="accent1"/>
                </a:solidFill>
              </a:rPr>
              <a:t>Not</a:t>
            </a:r>
            <a:r>
              <a:rPr lang="en-US" altLang="en-US" sz="2400" dirty="0"/>
              <a:t> simply quoting long passages or cite at length the words or ideas of others</a:t>
            </a:r>
          </a:p>
          <a:p>
            <a:pPr algn="just"/>
            <a:r>
              <a:rPr lang="en-US" altLang="en-US" sz="2400" dirty="0"/>
              <a:t>Students consider LR as merely a conventional filler – something that everyone does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BE355B-DE23-497A-A52D-81A29371EF8C}" type="datetime1">
              <a:rPr lang="en-US" smtClean="0"/>
              <a:t>9/9/2025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0711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>
          <a:xfrm>
            <a:off x="2055811" y="193448"/>
            <a:ext cx="8248345" cy="914401"/>
          </a:xfrm>
        </p:spPr>
        <p:txBody>
          <a:bodyPr>
            <a:normAutofit/>
          </a:bodyPr>
          <a:lstStyle/>
          <a:p>
            <a:r>
              <a:rPr lang="en-US" altLang="en-US" sz="2400" b="1" dirty="0">
                <a:latin typeface="Comic Sans MS" panose="030F0702030302020204" pitchFamily="66" charset="0"/>
              </a:rPr>
              <a:t>Don’t Reproduce the Literature!</a:t>
            </a:r>
          </a:p>
        </p:txBody>
      </p:sp>
      <p:sp>
        <p:nvSpPr>
          <p:cNvPr id="126979" name="Rectangle 3"/>
          <p:cNvSpPr>
            <a:spLocks noGrp="1" noChangeArrowheads="1"/>
          </p:cNvSpPr>
          <p:nvPr>
            <p:ph idx="1"/>
          </p:nvPr>
        </p:nvSpPr>
        <p:spPr>
          <a:xfrm>
            <a:off x="1797627" y="1600201"/>
            <a:ext cx="9078029" cy="4283074"/>
          </a:xfrm>
        </p:spPr>
        <p:txBody>
          <a:bodyPr>
            <a:noAutofit/>
          </a:bodyPr>
          <a:lstStyle/>
          <a:p>
            <a:pPr marL="533400" indent="-533400" algn="just">
              <a:lnSpc>
                <a:spcPct val="90000"/>
              </a:lnSpc>
            </a:pPr>
            <a:r>
              <a:rPr lang="en-US" altLang="en-US" sz="2400" b="1" u="sng" dirty="0"/>
              <a:t>Advice – guidelines</a:t>
            </a:r>
          </a:p>
          <a:p>
            <a:pPr lvl="1" algn="just">
              <a:lnSpc>
                <a:spcPct val="90000"/>
              </a:lnSpc>
              <a:buFont typeface="Times" pitchFamily="18" charset="0"/>
              <a:buAutoNum type="arabicPeriod"/>
            </a:pPr>
            <a:r>
              <a:rPr lang="en-US" altLang="en-US" sz="2400" dirty="0"/>
              <a:t>Present your own discussion</a:t>
            </a:r>
          </a:p>
          <a:p>
            <a:pPr lvl="1" algn="just">
              <a:lnSpc>
                <a:spcPct val="90000"/>
              </a:lnSpc>
              <a:buFont typeface="Times" pitchFamily="18" charset="0"/>
              <a:buAutoNum type="arabicPeriod"/>
            </a:pPr>
            <a:r>
              <a:rPr lang="en-US" altLang="en-US" sz="2400" dirty="0"/>
              <a:t>Paraphrase (precise (short statement of the main points of a speech or piece of writing), resume (summary), give a synopsis, an epitome (person or thing that is the perfect example of a quality or type))</a:t>
            </a:r>
          </a:p>
          <a:p>
            <a:pPr lvl="1" algn="just">
              <a:lnSpc>
                <a:spcPct val="90000"/>
              </a:lnSpc>
              <a:buFont typeface="Times" pitchFamily="18" charset="0"/>
              <a:buAutoNum type="arabicPeriod"/>
            </a:pPr>
            <a:r>
              <a:rPr lang="en-US" altLang="en-US" sz="2400" dirty="0"/>
              <a:t>Use short, direct quotations if necessary</a:t>
            </a:r>
          </a:p>
          <a:p>
            <a:pPr lvl="1" algn="just">
              <a:lnSpc>
                <a:spcPct val="90000"/>
              </a:lnSpc>
              <a:buFont typeface="Times" pitchFamily="18" charset="0"/>
              <a:buAutoNum type="arabicPeriod"/>
            </a:pPr>
            <a:r>
              <a:rPr lang="en-US" altLang="en-US" sz="2400" dirty="0"/>
              <a:t>Long quotations are a last resort. Use them only for a very good reason – for instance, when the specific words that an author uses are as important as the ideas that the author presents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C4FE1-76BB-43BF-A038-806F23774E71}" type="datetime1">
              <a:rPr lang="en-US" smtClean="0"/>
              <a:t>9/9/2025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2792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>
          <a:xfrm>
            <a:off x="2055567" y="304903"/>
            <a:ext cx="7451871" cy="848007"/>
          </a:xfrm>
        </p:spPr>
        <p:txBody>
          <a:bodyPr>
            <a:normAutofit/>
          </a:bodyPr>
          <a:lstStyle/>
          <a:p>
            <a:r>
              <a:rPr lang="en-US" altLang="en-US" sz="2400" b="1" dirty="0" err="1">
                <a:latin typeface="Comic Sans MS" panose="030F0702030302020204" pitchFamily="66" charset="0"/>
              </a:rPr>
              <a:t>Summarise</a:t>
            </a:r>
            <a:r>
              <a:rPr lang="en-US" altLang="en-US" sz="2400" b="1" dirty="0">
                <a:latin typeface="Comic Sans MS" panose="030F0702030302020204" pitchFamily="66" charset="0"/>
              </a:rPr>
              <a:t> What You Have Said</a:t>
            </a:r>
          </a:p>
        </p:txBody>
      </p:sp>
      <p:sp>
        <p:nvSpPr>
          <p:cNvPr id="131075" name="Rectangle 3"/>
          <p:cNvSpPr>
            <a:spLocks noGrp="1" noChangeArrowheads="1"/>
          </p:cNvSpPr>
          <p:nvPr>
            <p:ph idx="1"/>
          </p:nvPr>
        </p:nvSpPr>
        <p:spPr>
          <a:xfrm>
            <a:off x="1850065" y="1743740"/>
            <a:ext cx="8176437" cy="4047460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</a:pPr>
            <a:r>
              <a:rPr lang="en-US" altLang="en-US" sz="2800" dirty="0"/>
              <a:t>Every discussion of related literature should end with a brief summary section and sets forth its </a:t>
            </a:r>
            <a:r>
              <a:rPr lang="en-US" altLang="en-US" sz="2800" dirty="0">
                <a:solidFill>
                  <a:schemeClr val="accent1"/>
                </a:solidFill>
              </a:rPr>
              <a:t>significance</a:t>
            </a:r>
            <a:r>
              <a:rPr lang="en-US" altLang="en-US" sz="2800" dirty="0"/>
              <a:t> in terms of the research problem</a:t>
            </a:r>
          </a:p>
          <a:p>
            <a:pPr algn="just">
              <a:lnSpc>
                <a:spcPct val="90000"/>
              </a:lnSpc>
            </a:pPr>
            <a:r>
              <a:rPr lang="en-US" altLang="en-US" sz="2800" dirty="0"/>
              <a:t>The heading “Summary” should condense your review into a synopsis of how the existing literature on your topic contributes to an understanding of the specific problem you are trying to solve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A230F-0D09-46AB-8B2E-DD1EE28E1C21}" type="datetime1">
              <a:rPr lang="en-US" smtClean="0"/>
              <a:t>9/9/2025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0151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>
          <a:xfrm>
            <a:off x="2055811" y="304903"/>
            <a:ext cx="8075325" cy="796533"/>
          </a:xfrm>
        </p:spPr>
        <p:txBody>
          <a:bodyPr>
            <a:normAutofit/>
          </a:bodyPr>
          <a:lstStyle/>
          <a:p>
            <a:r>
              <a:rPr lang="en-US" altLang="en-US" sz="2400" b="1" dirty="0">
                <a:latin typeface="Comic Sans MS" panose="030F0702030302020204" pitchFamily="66" charset="0"/>
              </a:rPr>
              <a:t>First Draft is Not Last Draft 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idx="1"/>
          </p:nvPr>
        </p:nvSpPr>
        <p:spPr>
          <a:xfrm>
            <a:off x="1797627" y="1796902"/>
            <a:ext cx="8611647" cy="3994298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altLang="en-US" sz="2400" dirty="0"/>
              <a:t>You should expect to write multiple drafts of your literature review</a:t>
            </a:r>
          </a:p>
          <a:p>
            <a:pPr algn="just">
              <a:lnSpc>
                <a:spcPct val="90000"/>
              </a:lnSpc>
            </a:pPr>
            <a:r>
              <a:rPr lang="en-US" altLang="en-US" sz="2400" dirty="0"/>
              <a:t>In fact, writing the first draft will help you identify parts of the literature that are still unclear to you and places where you may need additional information or references</a:t>
            </a:r>
          </a:p>
          <a:p>
            <a:pPr algn="just">
              <a:lnSpc>
                <a:spcPct val="90000"/>
              </a:lnSpc>
            </a:pPr>
            <a:r>
              <a:rPr lang="en-US" altLang="en-US" sz="2400" dirty="0"/>
              <a:t>Even when you have obtained all the information you need for a complete review, you will typically not be able to express your thoughts with complete clarity the first time around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FDA31-696B-4BCB-92B2-F88EF401607C}" type="datetime1">
              <a:rPr lang="en-US" smtClean="0"/>
              <a:t>9/9/2025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9941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681739" y="304903"/>
            <a:ext cx="9083244" cy="671842"/>
          </a:xfrm>
        </p:spPr>
        <p:txBody>
          <a:bodyPr>
            <a:noAutofit/>
          </a:bodyPr>
          <a:lstStyle/>
          <a:p>
            <a:r>
              <a:rPr lang="en-US" altLang="en-US" sz="2800" b="1" dirty="0">
                <a:latin typeface="Comic Sans MS" panose="030F0702030302020204" pitchFamily="66" charset="0"/>
              </a:rPr>
              <a:t>Ask Others for Advice and Feedback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idx="1"/>
          </p:nvPr>
        </p:nvSpPr>
        <p:spPr>
          <a:xfrm>
            <a:off x="1681739" y="1743740"/>
            <a:ext cx="8568047" cy="4047460"/>
          </a:xfrm>
        </p:spPr>
        <p:txBody>
          <a:bodyPr>
            <a:normAutofit/>
          </a:bodyPr>
          <a:lstStyle/>
          <a:p>
            <a:pPr algn="just"/>
            <a:r>
              <a:rPr lang="en-US" altLang="en-US" sz="2000" dirty="0"/>
              <a:t>Ask others to read your rough draft of the LR, talk with others about what you have found, and get ideas about additional avenues you may need to explore</a:t>
            </a:r>
          </a:p>
          <a:p>
            <a:pPr algn="just"/>
            <a:r>
              <a:rPr lang="en-US" altLang="en-US" sz="2000" dirty="0"/>
              <a:t>Use e-mail to contact people who have an interest in this area of study (e.g., contact the authors of studies that have influenced your own work)</a:t>
            </a:r>
          </a:p>
          <a:p>
            <a:pPr algn="just"/>
            <a:r>
              <a:rPr lang="en-US" altLang="en-US" sz="2000" dirty="0"/>
              <a:t>You will be amazed at how helpful and supportive people can be when you tell them that you have read their work and would appreciate their opinion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9428B-E2FB-4076-8E7D-9C0445226C1B}" type="datetime1">
              <a:rPr lang="en-US" smtClean="0"/>
              <a:t>9/9/2025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0340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4475" y="361758"/>
            <a:ext cx="6381607" cy="705042"/>
          </a:xfrm>
        </p:spPr>
        <p:txBody>
          <a:bodyPr/>
          <a:lstStyle/>
          <a:p>
            <a:r>
              <a:rPr lang="en-GB" b="1" dirty="0">
                <a:latin typeface="Comic Sans MS" panose="030F0702030302020204" pitchFamily="66" charset="0"/>
              </a:rPr>
              <a:t>PLAGIARISM.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1157" y="1765005"/>
            <a:ext cx="9014730" cy="4036828"/>
          </a:xfrm>
        </p:spPr>
        <p:txBody>
          <a:bodyPr>
            <a:normAutofit/>
          </a:bodyPr>
          <a:lstStyle/>
          <a:p>
            <a:r>
              <a:rPr lang="en-GB" sz="2800" dirty="0"/>
              <a:t>Plagiarism is a form of academic dishonesty.</a:t>
            </a:r>
          </a:p>
          <a:p>
            <a:r>
              <a:rPr lang="en-GB" sz="2800" dirty="0"/>
              <a:t>Plagiarism can be defined as the appropriation of another person’s ideas, processes, results, or words without giving appropriate credit.</a:t>
            </a:r>
          </a:p>
          <a:p>
            <a:r>
              <a:rPr lang="en-GB" sz="2800" dirty="0"/>
              <a:t>Plagiarism is the use of any source, published or unpublished, without proper acknowledgement or referencing.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43E5-5191-4A1D-AF78-016394877EB6}" type="datetime1">
              <a:rPr lang="en-US" smtClean="0"/>
              <a:t>9/9/2025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77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4944" y="351376"/>
            <a:ext cx="8771516" cy="715423"/>
          </a:xfrm>
        </p:spPr>
        <p:txBody>
          <a:bodyPr/>
          <a:lstStyle/>
          <a:p>
            <a:r>
              <a:rPr lang="en-GB" b="1" dirty="0">
                <a:latin typeface="Comic Sans MS" panose="030F0702030302020204" pitchFamily="66" charset="0"/>
              </a:rPr>
              <a:t>Understanding the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3860" y="2030819"/>
            <a:ext cx="8352600" cy="3760382"/>
          </a:xfrm>
        </p:spPr>
        <p:txBody>
          <a:bodyPr>
            <a:normAutofit/>
          </a:bodyPr>
          <a:lstStyle/>
          <a:p>
            <a:r>
              <a:rPr lang="en-GB" sz="2400" dirty="0"/>
              <a:t>Appropriation means using or taking something that is not yours.</a:t>
            </a:r>
          </a:p>
          <a:p>
            <a:r>
              <a:rPr lang="en-GB" sz="2400" dirty="0"/>
              <a:t>Plagiarism is stealing by using another person’s words or ideas.</a:t>
            </a:r>
          </a:p>
          <a:p>
            <a:r>
              <a:rPr lang="en-GB" sz="2400" dirty="0"/>
              <a:t>It is an academic dishonest because students, scholars, and faculty members are expected to do their work.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FFCE9-2E6B-4D67-BF71-7651DC71C972}" type="datetime1">
              <a:rPr lang="en-US" smtClean="0"/>
              <a:t>9/9/2025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5344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6657" y="256309"/>
            <a:ext cx="7057016" cy="810491"/>
          </a:xfrm>
        </p:spPr>
        <p:txBody>
          <a:bodyPr>
            <a:normAutofit/>
          </a:bodyPr>
          <a:lstStyle/>
          <a:p>
            <a:r>
              <a:rPr lang="en-GB" sz="2800" b="1" dirty="0">
                <a:latin typeface="Comic Sans MS" panose="030F0702030302020204" pitchFamily="66" charset="0"/>
              </a:rPr>
              <a:t>Contd…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0938" y="1722474"/>
            <a:ext cx="8016949" cy="4068727"/>
          </a:xfrm>
        </p:spPr>
        <p:txBody>
          <a:bodyPr>
            <a:normAutofit/>
          </a:bodyPr>
          <a:lstStyle/>
          <a:p>
            <a:r>
              <a:rPr lang="en-GB" sz="2400" dirty="0"/>
              <a:t>It is easy to accidentally plagiarise.</a:t>
            </a:r>
          </a:p>
          <a:p>
            <a:r>
              <a:rPr lang="en-GB" sz="2400" dirty="0"/>
              <a:t>Some times caused by carelessness</a:t>
            </a:r>
          </a:p>
          <a:p>
            <a:r>
              <a:rPr lang="en-GB" sz="2400" dirty="0"/>
              <a:t>Poor note taking among the students</a:t>
            </a:r>
          </a:p>
          <a:p>
            <a:r>
              <a:rPr lang="en-GB" sz="2400" dirty="0"/>
              <a:t>Copying and pasting from the internet without due care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0C0B1-092F-4976-9236-BCED52DD498D}" type="datetime1">
              <a:rPr lang="en-US" smtClean="0"/>
              <a:t>9/9/2025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061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3793" y="392938"/>
            <a:ext cx="8563698" cy="644236"/>
          </a:xfrm>
        </p:spPr>
        <p:txBody>
          <a:bodyPr>
            <a:normAutofit/>
          </a:bodyPr>
          <a:lstStyle/>
          <a:p>
            <a:r>
              <a:rPr lang="en-GB" sz="2400" b="1" dirty="0">
                <a:latin typeface="Comic Sans MS" panose="030F0702030302020204" pitchFamily="66" charset="0"/>
              </a:rPr>
              <a:t>Possible causes of plagiarism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9552" y="1552353"/>
            <a:ext cx="8229601" cy="4238847"/>
          </a:xfrm>
        </p:spPr>
        <p:txBody>
          <a:bodyPr>
            <a:normAutofit/>
          </a:bodyPr>
          <a:lstStyle/>
          <a:p>
            <a:r>
              <a:rPr lang="en-GB" sz="2400" dirty="0"/>
              <a:t>Fear to fail</a:t>
            </a:r>
          </a:p>
          <a:p>
            <a:r>
              <a:rPr lang="en-GB" sz="2400" dirty="0"/>
              <a:t>Poor time management skills.</a:t>
            </a:r>
          </a:p>
          <a:p>
            <a:r>
              <a:rPr lang="en-GB" sz="2400" dirty="0"/>
              <a:t>Students view the consequences of cheating as unimportant.  </a:t>
            </a:r>
          </a:p>
          <a:p>
            <a:r>
              <a:rPr lang="en-GB" sz="2400" dirty="0"/>
              <a:t>Failure to enforce appropriate penalties.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55B68-F890-4DCB-80C6-6B0CF2B5B2C7}" type="datetime1">
              <a:rPr lang="en-US" smtClean="0"/>
              <a:t>9/9/2025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3173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0819" y="223284"/>
            <a:ext cx="7701837" cy="753462"/>
          </a:xfrm>
        </p:spPr>
        <p:txBody>
          <a:bodyPr>
            <a:normAutofit/>
          </a:bodyPr>
          <a:lstStyle/>
          <a:p>
            <a:r>
              <a:rPr lang="en-GB" sz="2800" b="1" dirty="0">
                <a:latin typeface="Comic Sans MS" panose="030F0702030302020204" pitchFamily="66" charset="0"/>
              </a:rPr>
              <a:t>Contd….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9745" y="1871330"/>
            <a:ext cx="8044981" cy="3919870"/>
          </a:xfrm>
        </p:spPr>
        <p:txBody>
          <a:bodyPr>
            <a:normAutofit/>
          </a:bodyPr>
          <a:lstStyle/>
          <a:p>
            <a:r>
              <a:rPr lang="en-GB" sz="2800" dirty="0"/>
              <a:t>Ignorance.</a:t>
            </a:r>
          </a:p>
          <a:p>
            <a:r>
              <a:rPr lang="en-GB" sz="2800" dirty="0"/>
              <a:t>Failure to know how to integrate the ideas from other sources appropriately with in their texts.</a:t>
            </a:r>
          </a:p>
          <a:p>
            <a:pPr marL="0" indent="0">
              <a:buNone/>
            </a:pPr>
            <a:r>
              <a:rPr lang="en-GB" sz="2800" b="1" i="1" dirty="0">
                <a:solidFill>
                  <a:srgbClr val="00B0F0"/>
                </a:solidFill>
                <a:latin typeface="Comic Sans MS" panose="030F0702030302020204" pitchFamily="66" charset="0"/>
              </a:rPr>
              <a:t>NOTE: Plagiarism is a form of research misconduct</a:t>
            </a:r>
          </a:p>
          <a:p>
            <a:pPr marL="0" indent="0">
              <a:buNone/>
            </a:pPr>
            <a:endParaRPr lang="en-GB" sz="35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8EC52-FBF5-40F2-AAB7-61E5F1DC7242}" type="datetime1">
              <a:rPr lang="en-US" smtClean="0"/>
              <a:t>9/9/2025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903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6845" y="204354"/>
            <a:ext cx="7264834" cy="862445"/>
          </a:xfrm>
        </p:spPr>
        <p:txBody>
          <a:bodyPr>
            <a:normAutofit/>
          </a:bodyPr>
          <a:lstStyle/>
          <a:p>
            <a:r>
              <a:rPr lang="en-GB" sz="3200" b="1" dirty="0">
                <a:latin typeface="Comic Sans MS" panose="030F0702030302020204" pitchFamily="66" charset="0"/>
              </a:rPr>
              <a:t>Detecting Plagiarism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7656" y="1531089"/>
            <a:ext cx="8474150" cy="4260112"/>
          </a:xfrm>
        </p:spPr>
        <p:txBody>
          <a:bodyPr>
            <a:normAutofit/>
          </a:bodyPr>
          <a:lstStyle/>
          <a:p>
            <a:r>
              <a:rPr lang="en-GB" sz="2400" dirty="0"/>
              <a:t>Readers and reviewers</a:t>
            </a:r>
          </a:p>
          <a:p>
            <a:r>
              <a:rPr lang="en-GB" sz="2400" dirty="0"/>
              <a:t>Reference check</a:t>
            </a:r>
          </a:p>
          <a:p>
            <a:r>
              <a:rPr lang="en-GB" sz="2400" dirty="0"/>
              <a:t>Plagiarism detection software (</a:t>
            </a:r>
            <a:r>
              <a:rPr lang="en-GB" sz="2400" dirty="0" err="1"/>
              <a:t>plagiarisma.net,turn</a:t>
            </a:r>
            <a:r>
              <a:rPr lang="en-GB" sz="2400"/>
              <a:t> it in softwareplagiarismchecker</a:t>
            </a:r>
            <a:r>
              <a:rPr lang="en-GB" sz="2400" dirty="0"/>
              <a:t>.com, plagiarismdetect.com)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7A0E5-3E70-45CE-8B94-310B25ABF12D}" type="datetime1">
              <a:rPr lang="en-US" smtClean="0"/>
              <a:t>9/9/2025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4370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8548" y="202019"/>
            <a:ext cx="7451870" cy="639644"/>
          </a:xfrm>
        </p:spPr>
        <p:txBody>
          <a:bodyPr>
            <a:normAutofit/>
          </a:bodyPr>
          <a:lstStyle/>
          <a:p>
            <a:r>
              <a:rPr lang="en-GB" sz="2800" b="1" dirty="0">
                <a:latin typeface="Comic Sans MS" panose="030F0702030302020204" pitchFamily="66" charset="0"/>
              </a:rPr>
              <a:t>Possible consequences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1927" y="1881963"/>
            <a:ext cx="8654471" cy="3909238"/>
          </a:xfrm>
        </p:spPr>
        <p:txBody>
          <a:bodyPr>
            <a:normAutofit/>
          </a:bodyPr>
          <a:lstStyle/>
          <a:p>
            <a:r>
              <a:rPr lang="en-GB" sz="2800" dirty="0"/>
              <a:t>Bad Scholarly reputation</a:t>
            </a:r>
          </a:p>
          <a:p>
            <a:r>
              <a:rPr lang="en-GB" sz="2800" dirty="0"/>
              <a:t>You can lose your grades</a:t>
            </a:r>
          </a:p>
          <a:p>
            <a:r>
              <a:rPr lang="en-GB" sz="2800" dirty="0"/>
              <a:t>Dissertation not accepted</a:t>
            </a:r>
          </a:p>
          <a:p>
            <a:r>
              <a:rPr lang="en-GB" sz="2800" dirty="0"/>
              <a:t>Expulsion from the university/ No degree</a:t>
            </a:r>
          </a:p>
          <a:p>
            <a:r>
              <a:rPr lang="en-GB" sz="2800" dirty="0"/>
              <a:t>Expulsion from professional organizations</a:t>
            </a:r>
          </a:p>
          <a:p>
            <a:r>
              <a:rPr lang="en-GB" sz="2800" dirty="0"/>
              <a:t>Loss of a job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0A055-87BC-4ED2-B601-AE927283AC1F}" type="datetime1">
              <a:rPr lang="en-US" smtClean="0"/>
              <a:t>9/9/2025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206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3687" y="225477"/>
            <a:ext cx="7015453" cy="716973"/>
          </a:xfrm>
        </p:spPr>
        <p:txBody>
          <a:bodyPr>
            <a:normAutofit/>
          </a:bodyPr>
          <a:lstStyle/>
          <a:p>
            <a:r>
              <a:rPr lang="en-GB" sz="2800" b="1" dirty="0">
                <a:latin typeface="Comic Sans MS" panose="030F0702030302020204" pitchFamily="66" charset="0"/>
              </a:rPr>
              <a:t>Important 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5803" y="1722474"/>
            <a:ext cx="8801981" cy="3840368"/>
          </a:xfrm>
        </p:spPr>
        <p:txBody>
          <a:bodyPr>
            <a:normAutofit/>
          </a:bodyPr>
          <a:lstStyle/>
          <a:p>
            <a:r>
              <a:rPr lang="en-GB" sz="2400" dirty="0"/>
              <a:t>Properly reference your work.</a:t>
            </a:r>
          </a:p>
          <a:p>
            <a:r>
              <a:rPr lang="en-GB" sz="2400" dirty="0"/>
              <a:t>Make sure you record the source when taking notes and make it clear if you are copying directly, paraphrasing or summarising.</a:t>
            </a:r>
          </a:p>
          <a:p>
            <a:r>
              <a:rPr lang="en-GB" sz="2400" dirty="0"/>
              <a:t>ALWAYS make notes in your own words.</a:t>
            </a:r>
          </a:p>
          <a:p>
            <a:r>
              <a:rPr lang="en-GB" sz="2400" dirty="0"/>
              <a:t>Don’t cut and Paste.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B4DAE-BF93-47CA-919C-D1DEC46FB427}" type="datetime1">
              <a:rPr lang="en-US" smtClean="0"/>
              <a:t>9/9/2025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7522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ctr"/>
            <a:r>
              <a:rPr lang="en-US" sz="11500" dirty="0"/>
              <a:t>Thank you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2E3E1-5490-4DF4-930A-A005B62AD765}" type="datetime1">
              <a:rPr lang="en-US" smtClean="0"/>
              <a:t>9/9/2025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34AAC-4D14-488D-93FC-3177E9299FB4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446370"/>
      </p:ext>
    </p:extLst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3_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eme kab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kab" id="{EF71EAF8-9FA8-4EF9-9A83-0B998A7FB3B4}" vid="{1AB0084C-10B3-48EB-BD8E-77DD7FAF019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8346</TotalTime>
  <Words>2561</Words>
  <Application>Microsoft Office PowerPoint</Application>
  <PresentationFormat>Widescreen</PresentationFormat>
  <Paragraphs>288</Paragraphs>
  <Slides>43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53" baseType="lpstr">
      <vt:lpstr>Arial</vt:lpstr>
      <vt:lpstr>Calibri</vt:lpstr>
      <vt:lpstr>Comic Sans MS</vt:lpstr>
      <vt:lpstr>Times</vt:lpstr>
      <vt:lpstr>Times New Roman</vt:lpstr>
      <vt:lpstr>Verdana</vt:lpstr>
      <vt:lpstr>Wingdings 3</vt:lpstr>
      <vt:lpstr>Zapf Dingbats</vt:lpstr>
      <vt:lpstr>3_Custom Design</vt:lpstr>
      <vt:lpstr>Theme kab</vt:lpstr>
      <vt:lpstr>Formulation of Research Objectives</vt:lpstr>
      <vt:lpstr>General Objective of the research project</vt:lpstr>
      <vt:lpstr>Specific Objectives</vt:lpstr>
      <vt:lpstr>Why should research objectives be developed?</vt:lpstr>
      <vt:lpstr>PowerPoint Presentation</vt:lpstr>
      <vt:lpstr>Note…</vt:lpstr>
      <vt:lpstr>Examples of objectives </vt:lpstr>
      <vt:lpstr>Research questions</vt:lpstr>
      <vt:lpstr>A good research question</vt:lpstr>
      <vt:lpstr>Title of the Study.</vt:lpstr>
      <vt:lpstr>Literature Review (LR)</vt:lpstr>
      <vt:lpstr>Benefits of Literature Review</vt:lpstr>
      <vt:lpstr>Benefits of Literature Review</vt:lpstr>
      <vt:lpstr>Benefits of Literature Review</vt:lpstr>
      <vt:lpstr>Why is it important to review already available information?</vt:lpstr>
      <vt:lpstr>How to Begin</vt:lpstr>
      <vt:lpstr>How to Begin</vt:lpstr>
      <vt:lpstr>Contd…</vt:lpstr>
      <vt:lpstr>Contd…</vt:lpstr>
      <vt:lpstr>Conducting a Literature Search</vt:lpstr>
      <vt:lpstr>Evaluating, Organizing, and Synthesizing the Literature</vt:lpstr>
      <vt:lpstr>Contd…</vt:lpstr>
      <vt:lpstr>Contd…</vt:lpstr>
      <vt:lpstr>Contd..</vt:lpstr>
      <vt:lpstr>Writing LR - Guidelines</vt:lpstr>
      <vt:lpstr>Psychological Orientation</vt:lpstr>
      <vt:lpstr>Have a Plan</vt:lpstr>
      <vt:lpstr>Emphasize Relatedness</vt:lpstr>
      <vt:lpstr>Give Credit where Credit is Due</vt:lpstr>
      <vt:lpstr>Don’t Reproduce the Literature!</vt:lpstr>
      <vt:lpstr>Don’t Reproduce the Literature!</vt:lpstr>
      <vt:lpstr>Summarise What You Have Said</vt:lpstr>
      <vt:lpstr>First Draft is Not Last Draft </vt:lpstr>
      <vt:lpstr>Ask Others for Advice and Feedback</vt:lpstr>
      <vt:lpstr>PLAGIARISM.</vt:lpstr>
      <vt:lpstr>Understanding the definition</vt:lpstr>
      <vt:lpstr>Contd…</vt:lpstr>
      <vt:lpstr>Possible causes of plagiarism</vt:lpstr>
      <vt:lpstr>Contd….</vt:lpstr>
      <vt:lpstr>Detecting Plagiarism</vt:lpstr>
      <vt:lpstr>Possible consequences</vt:lpstr>
      <vt:lpstr>Important Note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Methods- PROBLEM IDENTIFICATION</dc:title>
  <dc:creator>User</dc:creator>
  <cp:lastModifiedBy>HP</cp:lastModifiedBy>
  <cp:revision>182</cp:revision>
  <dcterms:created xsi:type="dcterms:W3CDTF">2017-01-23T09:07:33Z</dcterms:created>
  <dcterms:modified xsi:type="dcterms:W3CDTF">2025-09-09T15:34:23Z</dcterms:modified>
</cp:coreProperties>
</file>